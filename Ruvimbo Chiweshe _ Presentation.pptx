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9C04A1C-29C1-48A1-A346-824816A97A68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DC1A6158-5F38-4022-91E3-54C336DBBAA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Dimensionality Reduction:</a:t>
          </a:r>
          <a:r>
            <a:rPr lang="en-US" b="0" i="0" baseline="0"/>
            <a:t> Captured </a:t>
          </a:r>
          <a:r>
            <a:rPr lang="en-US" b="1" i="0" baseline="0"/>
            <a:t>82% of process variance</a:t>
          </a:r>
          <a:r>
            <a:rPr lang="en-US" b="0" i="0" baseline="0"/>
            <a:t> using only the first two components (PC1 and PC2).</a:t>
          </a:r>
          <a:endParaRPr lang="en-US"/>
        </a:p>
      </dgm:t>
    </dgm:pt>
    <dgm:pt modelId="{772A74DF-942B-48DC-91B4-83D9A64DB807}" type="parTrans" cxnId="{2BA29D31-BEF9-4C05-8833-9DF71735C1A8}">
      <dgm:prSet/>
      <dgm:spPr/>
      <dgm:t>
        <a:bodyPr/>
        <a:lstStyle/>
        <a:p>
          <a:endParaRPr lang="en-US"/>
        </a:p>
      </dgm:t>
    </dgm:pt>
    <dgm:pt modelId="{F1A95C49-3358-4633-A4D0-AC1C673438AA}" type="sibTrans" cxnId="{2BA29D31-BEF9-4C05-8833-9DF71735C1A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CE4D47B-9939-4893-8F48-EB221F7AAEB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PC1 (Sealing Integrity):</a:t>
          </a:r>
          <a:r>
            <a:rPr lang="en-US" b="0" i="0" baseline="0"/>
            <a:t> Strongly influenced by total collapse, weld force, and weld time.</a:t>
          </a:r>
          <a:endParaRPr lang="en-US"/>
        </a:p>
      </dgm:t>
    </dgm:pt>
    <dgm:pt modelId="{E9FB5895-BBE9-4BE8-BB2D-7FE09EA97C05}" type="parTrans" cxnId="{2B67B91B-8D45-40F5-907A-AE9838ADEEE1}">
      <dgm:prSet/>
      <dgm:spPr/>
      <dgm:t>
        <a:bodyPr/>
        <a:lstStyle/>
        <a:p>
          <a:endParaRPr lang="en-US"/>
        </a:p>
      </dgm:t>
    </dgm:pt>
    <dgm:pt modelId="{47F6BAF3-7A9B-4340-852C-8842CDC939CB}" type="sibTrans" cxnId="{2B67B91B-8D45-40F5-907A-AE9838ADEEE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D625686-34A3-4063-8691-62D6BC90771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PC2 (Filling Precision):</a:t>
          </a:r>
          <a:r>
            <a:rPr lang="en-US" b="0" i="0" baseline="0"/>
            <a:t> Primarily driven by tare weight and gross weight.</a:t>
          </a:r>
          <a:endParaRPr lang="en-US"/>
        </a:p>
      </dgm:t>
    </dgm:pt>
    <dgm:pt modelId="{8C4616BC-2D31-48FD-90CA-702B158A20F9}" type="parTrans" cxnId="{663AE803-B84C-4F55-9745-4159D501A4D6}">
      <dgm:prSet/>
      <dgm:spPr/>
      <dgm:t>
        <a:bodyPr/>
        <a:lstStyle/>
        <a:p>
          <a:endParaRPr lang="en-US"/>
        </a:p>
      </dgm:t>
    </dgm:pt>
    <dgm:pt modelId="{5FA65C29-05EF-49E6-825E-3974BC54266E}" type="sibTrans" cxnId="{663AE803-B84C-4F55-9745-4159D501A4D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0661A85-F7B5-4C50-A3A0-3833963D4FC8}">
      <dgm:prSet/>
      <dgm:spPr/>
      <dgm:t>
        <a:bodyPr/>
        <a:lstStyle/>
        <a:p>
          <a:pPr>
            <a:lnSpc>
              <a:spcPct val="100000"/>
            </a:lnSpc>
          </a:pPr>
          <a:r>
            <a:rPr kumimoji="0" lang="en-US" altLang="en-US" b="1" i="0" u="none" strike="noStrike" cap="none" normalizeH="0" baseline="0" dirty="0">
              <a:effectLst/>
              <a:latin typeface="Google Sans Text"/>
            </a:rPr>
            <a:t>Hotelling’s </a:t>
          </a:r>
          <a:r>
            <a:rPr lang="en-US" altLang="en-US" b="1" dirty="0">
              <a:latin typeface="Google Sans Text"/>
            </a:rPr>
            <a:t>T2</a:t>
          </a:r>
          <a:r>
            <a:rPr kumimoji="0" lang="en-US" altLang="en-US" b="1" i="0" u="none" strike="noStrike" cap="none" normalizeH="0" baseline="0" dirty="0">
              <a:effectLst/>
              <a:latin typeface="Google Sans Text"/>
            </a:rPr>
            <a:t> (exceeding 3000)</a:t>
          </a:r>
          <a:r>
            <a:rPr kumimoji="0" lang="en-US" altLang="en-US" b="0" i="0" u="none" strike="noStrike" cap="none" normalizeH="0" baseline="0" dirty="0">
              <a:effectLst/>
            </a:rPr>
            <a:t> signals a systematic shift </a:t>
          </a:r>
        </a:p>
        <a:p>
          <a:pPr>
            <a:lnSpc>
              <a:spcPct val="100000"/>
            </a:lnSpc>
          </a:pPr>
          <a:r>
            <a:rPr lang="en-GB" b="1" dirty="0"/>
            <a:t>Q-residuals (reaching &gt;200)</a:t>
          </a:r>
          <a:r>
            <a:rPr lang="en-GB" dirty="0"/>
            <a:t> indicates a mechanical glitch.</a:t>
          </a:r>
        </a:p>
      </dgm:t>
    </dgm:pt>
    <dgm:pt modelId="{175FFE3D-56B4-47A8-BB8D-C81A5C56012C}" type="parTrans" cxnId="{12DE5148-4AFC-4819-9E6A-DB12C6CEFCCE}">
      <dgm:prSet/>
      <dgm:spPr/>
      <dgm:t>
        <a:bodyPr/>
        <a:lstStyle/>
        <a:p>
          <a:endParaRPr lang="en-GB"/>
        </a:p>
      </dgm:t>
    </dgm:pt>
    <dgm:pt modelId="{69831E36-1F63-44C3-ACC6-2C5247D56864}" type="sibTrans" cxnId="{12DE5148-4AFC-4819-9E6A-DB12C6CEFCCE}">
      <dgm:prSet/>
      <dgm:spPr/>
      <dgm:t>
        <a:bodyPr/>
        <a:lstStyle/>
        <a:p>
          <a:endParaRPr lang="en-GB"/>
        </a:p>
      </dgm:t>
    </dgm:pt>
    <dgm:pt modelId="{5F48FFAC-09B1-4488-A142-1B8F0F76704B}" type="pres">
      <dgm:prSet presAssocID="{B9C04A1C-29C1-48A1-A346-824816A97A68}" presName="root" presStyleCnt="0">
        <dgm:presLayoutVars>
          <dgm:dir/>
          <dgm:resizeHandles val="exact"/>
        </dgm:presLayoutVars>
      </dgm:prSet>
      <dgm:spPr/>
    </dgm:pt>
    <dgm:pt modelId="{7589E1F5-28B3-4283-BF70-0684D1EBE75D}" type="pres">
      <dgm:prSet presAssocID="{B9C04A1C-29C1-48A1-A346-824816A97A68}" presName="container" presStyleCnt="0">
        <dgm:presLayoutVars>
          <dgm:dir/>
          <dgm:resizeHandles val="exact"/>
        </dgm:presLayoutVars>
      </dgm:prSet>
      <dgm:spPr/>
    </dgm:pt>
    <dgm:pt modelId="{65980A05-9BF0-4126-952A-D02DE7179590}" type="pres">
      <dgm:prSet presAssocID="{DC1A6158-5F38-4022-91E3-54C336DBBAA5}" presName="compNode" presStyleCnt="0"/>
      <dgm:spPr/>
    </dgm:pt>
    <dgm:pt modelId="{F64D376C-6BAA-49F5-9854-44404287298C}" type="pres">
      <dgm:prSet presAssocID="{DC1A6158-5F38-4022-91E3-54C336DBBAA5}" presName="iconBgRect" presStyleLbl="bgShp" presStyleIdx="0" presStyleCnt="4"/>
      <dgm:spPr/>
    </dgm:pt>
    <dgm:pt modelId="{5C617F71-FB40-4DF3-B9B8-F2D1E3D9AD63}" type="pres">
      <dgm:prSet presAssocID="{DC1A6158-5F38-4022-91E3-54C336DBBAA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aker"/>
        </a:ext>
      </dgm:extLst>
    </dgm:pt>
    <dgm:pt modelId="{ACA31505-672D-469B-987A-758E3CDA957A}" type="pres">
      <dgm:prSet presAssocID="{DC1A6158-5F38-4022-91E3-54C336DBBAA5}" presName="spaceRect" presStyleCnt="0"/>
      <dgm:spPr/>
    </dgm:pt>
    <dgm:pt modelId="{DA0A64B3-EFB3-4A60-B30C-2456B68FF15D}" type="pres">
      <dgm:prSet presAssocID="{DC1A6158-5F38-4022-91E3-54C336DBBAA5}" presName="textRect" presStyleLbl="revTx" presStyleIdx="0" presStyleCnt="4">
        <dgm:presLayoutVars>
          <dgm:chMax val="1"/>
          <dgm:chPref val="1"/>
        </dgm:presLayoutVars>
      </dgm:prSet>
      <dgm:spPr/>
    </dgm:pt>
    <dgm:pt modelId="{F0CA743D-57BA-4122-9AC6-CC813A69DBC5}" type="pres">
      <dgm:prSet presAssocID="{F1A95C49-3358-4633-A4D0-AC1C673438AA}" presName="sibTrans" presStyleLbl="sibTrans2D1" presStyleIdx="0" presStyleCnt="0"/>
      <dgm:spPr/>
    </dgm:pt>
    <dgm:pt modelId="{7855E873-00AF-435F-991E-765615C3A893}" type="pres">
      <dgm:prSet presAssocID="{FCE4D47B-9939-4893-8F48-EB221F7AAEB4}" presName="compNode" presStyleCnt="0"/>
      <dgm:spPr/>
    </dgm:pt>
    <dgm:pt modelId="{9AC7465B-06D1-49B5-8A0C-CA886098ADD8}" type="pres">
      <dgm:prSet presAssocID="{FCE4D47B-9939-4893-8F48-EB221F7AAEB4}" presName="iconBgRect" presStyleLbl="bgShp" presStyleIdx="1" presStyleCnt="4"/>
      <dgm:spPr/>
    </dgm:pt>
    <dgm:pt modelId="{9D9F8938-7A30-41A5-AA37-BB5436DA4BF0}" type="pres">
      <dgm:prSet presAssocID="{FCE4D47B-9939-4893-8F48-EB221F7AAEB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nchor"/>
        </a:ext>
      </dgm:extLst>
    </dgm:pt>
    <dgm:pt modelId="{0289B1A7-A02B-4F80-9BD9-FDF1185A0040}" type="pres">
      <dgm:prSet presAssocID="{FCE4D47B-9939-4893-8F48-EB221F7AAEB4}" presName="spaceRect" presStyleCnt="0"/>
      <dgm:spPr/>
    </dgm:pt>
    <dgm:pt modelId="{09E2DDFD-775D-45E5-A644-0854D9831ACF}" type="pres">
      <dgm:prSet presAssocID="{FCE4D47B-9939-4893-8F48-EB221F7AAEB4}" presName="textRect" presStyleLbl="revTx" presStyleIdx="1" presStyleCnt="4">
        <dgm:presLayoutVars>
          <dgm:chMax val="1"/>
          <dgm:chPref val="1"/>
        </dgm:presLayoutVars>
      </dgm:prSet>
      <dgm:spPr/>
    </dgm:pt>
    <dgm:pt modelId="{C499AF7A-8673-4741-ACF6-476A1FCF872D}" type="pres">
      <dgm:prSet presAssocID="{47F6BAF3-7A9B-4340-852C-8842CDC939CB}" presName="sibTrans" presStyleLbl="sibTrans2D1" presStyleIdx="0" presStyleCnt="0"/>
      <dgm:spPr/>
    </dgm:pt>
    <dgm:pt modelId="{ACF49D4D-5BF9-4608-9C5B-C78987149AB7}" type="pres">
      <dgm:prSet presAssocID="{7D625686-34A3-4063-8691-62D6BC907714}" presName="compNode" presStyleCnt="0"/>
      <dgm:spPr/>
    </dgm:pt>
    <dgm:pt modelId="{209A2B57-59A0-4193-BD55-87BBEA7696E6}" type="pres">
      <dgm:prSet presAssocID="{7D625686-34A3-4063-8691-62D6BC907714}" presName="iconBgRect" presStyleLbl="bgShp" presStyleIdx="2" presStyleCnt="4"/>
      <dgm:spPr/>
    </dgm:pt>
    <dgm:pt modelId="{1BE59EE3-C52A-42FD-A03D-FD95E4CA04CB}" type="pres">
      <dgm:prSet presAssocID="{7D625686-34A3-4063-8691-62D6BC90771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7F5FA7DF-C381-448A-8F66-5DD7D5454364}" type="pres">
      <dgm:prSet presAssocID="{7D625686-34A3-4063-8691-62D6BC907714}" presName="spaceRect" presStyleCnt="0"/>
      <dgm:spPr/>
    </dgm:pt>
    <dgm:pt modelId="{EC335B98-A73E-4B3D-B874-CAF13A9CD5BA}" type="pres">
      <dgm:prSet presAssocID="{7D625686-34A3-4063-8691-62D6BC907714}" presName="textRect" presStyleLbl="revTx" presStyleIdx="2" presStyleCnt="4">
        <dgm:presLayoutVars>
          <dgm:chMax val="1"/>
          <dgm:chPref val="1"/>
        </dgm:presLayoutVars>
      </dgm:prSet>
      <dgm:spPr/>
    </dgm:pt>
    <dgm:pt modelId="{3854E219-3869-4FD9-B25D-73894E4FFE17}" type="pres">
      <dgm:prSet presAssocID="{5FA65C29-05EF-49E6-825E-3974BC54266E}" presName="sibTrans" presStyleLbl="sibTrans2D1" presStyleIdx="0" presStyleCnt="0"/>
      <dgm:spPr/>
    </dgm:pt>
    <dgm:pt modelId="{5FC71713-A66F-4966-B978-94153005DD34}" type="pres">
      <dgm:prSet presAssocID="{20661A85-F7B5-4C50-A3A0-3833963D4FC8}" presName="compNode" presStyleCnt="0"/>
      <dgm:spPr/>
    </dgm:pt>
    <dgm:pt modelId="{11C0E118-6EE2-4729-9229-E48C818561C2}" type="pres">
      <dgm:prSet presAssocID="{20661A85-F7B5-4C50-A3A0-3833963D4FC8}" presName="iconBgRect" presStyleLbl="bgShp" presStyleIdx="3" presStyleCnt="4"/>
      <dgm:spPr/>
    </dgm:pt>
    <dgm:pt modelId="{CC564802-C13E-43AD-AA11-A75B5136ACB3}" type="pres">
      <dgm:prSet presAssocID="{20661A85-F7B5-4C50-A3A0-3833963D4FC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idge scene"/>
        </a:ext>
      </dgm:extLst>
    </dgm:pt>
    <dgm:pt modelId="{95092CCC-9FC0-4E88-A35B-7E04BDC79D6C}" type="pres">
      <dgm:prSet presAssocID="{20661A85-F7B5-4C50-A3A0-3833963D4FC8}" presName="spaceRect" presStyleCnt="0"/>
      <dgm:spPr/>
    </dgm:pt>
    <dgm:pt modelId="{73FFFD84-1264-45EF-BD14-492BE8D4CF6A}" type="pres">
      <dgm:prSet presAssocID="{20661A85-F7B5-4C50-A3A0-3833963D4FC8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63AE803-B84C-4F55-9745-4159D501A4D6}" srcId="{B9C04A1C-29C1-48A1-A346-824816A97A68}" destId="{7D625686-34A3-4063-8691-62D6BC907714}" srcOrd="2" destOrd="0" parTransId="{8C4616BC-2D31-48FD-90CA-702B158A20F9}" sibTransId="{5FA65C29-05EF-49E6-825E-3974BC54266E}"/>
    <dgm:cxn modelId="{EADBA709-9F60-40FE-9522-D99C3B22F428}" type="presOf" srcId="{DC1A6158-5F38-4022-91E3-54C336DBBAA5}" destId="{DA0A64B3-EFB3-4A60-B30C-2456B68FF15D}" srcOrd="0" destOrd="0" presId="urn:microsoft.com/office/officeart/2018/2/layout/IconCircleList"/>
    <dgm:cxn modelId="{2B67B91B-8D45-40F5-907A-AE9838ADEEE1}" srcId="{B9C04A1C-29C1-48A1-A346-824816A97A68}" destId="{FCE4D47B-9939-4893-8F48-EB221F7AAEB4}" srcOrd="1" destOrd="0" parTransId="{E9FB5895-BBE9-4BE8-BB2D-7FE09EA97C05}" sibTransId="{47F6BAF3-7A9B-4340-852C-8842CDC939CB}"/>
    <dgm:cxn modelId="{2BA29D31-BEF9-4C05-8833-9DF71735C1A8}" srcId="{B9C04A1C-29C1-48A1-A346-824816A97A68}" destId="{DC1A6158-5F38-4022-91E3-54C336DBBAA5}" srcOrd="0" destOrd="0" parTransId="{772A74DF-942B-48DC-91B4-83D9A64DB807}" sibTransId="{F1A95C49-3358-4633-A4D0-AC1C673438AA}"/>
    <dgm:cxn modelId="{12DE5148-4AFC-4819-9E6A-DB12C6CEFCCE}" srcId="{B9C04A1C-29C1-48A1-A346-824816A97A68}" destId="{20661A85-F7B5-4C50-A3A0-3833963D4FC8}" srcOrd="3" destOrd="0" parTransId="{175FFE3D-56B4-47A8-BB8D-C81A5C56012C}" sibTransId="{69831E36-1F63-44C3-ACC6-2C5247D56864}"/>
    <dgm:cxn modelId="{EC403E4C-FF01-4A8D-9AAE-A575FAD8BF3F}" type="presOf" srcId="{B9C04A1C-29C1-48A1-A346-824816A97A68}" destId="{5F48FFAC-09B1-4488-A142-1B8F0F76704B}" srcOrd="0" destOrd="0" presId="urn:microsoft.com/office/officeart/2018/2/layout/IconCircleList"/>
    <dgm:cxn modelId="{C39D1D77-2162-4825-A145-1417E73E1297}" type="presOf" srcId="{20661A85-F7B5-4C50-A3A0-3833963D4FC8}" destId="{73FFFD84-1264-45EF-BD14-492BE8D4CF6A}" srcOrd="0" destOrd="0" presId="urn:microsoft.com/office/officeart/2018/2/layout/IconCircleList"/>
    <dgm:cxn modelId="{3C29D9A8-0EBB-493D-957F-D685990FF636}" type="presOf" srcId="{F1A95C49-3358-4633-A4D0-AC1C673438AA}" destId="{F0CA743D-57BA-4122-9AC6-CC813A69DBC5}" srcOrd="0" destOrd="0" presId="urn:microsoft.com/office/officeart/2018/2/layout/IconCircleList"/>
    <dgm:cxn modelId="{63B771B7-AD1F-43F0-BBA1-1C5FE1199DFD}" type="presOf" srcId="{47F6BAF3-7A9B-4340-852C-8842CDC939CB}" destId="{C499AF7A-8673-4741-ACF6-476A1FCF872D}" srcOrd="0" destOrd="0" presId="urn:microsoft.com/office/officeart/2018/2/layout/IconCircleList"/>
    <dgm:cxn modelId="{EC2F06BB-668D-41A3-A2BE-C55F25C85850}" type="presOf" srcId="{5FA65C29-05EF-49E6-825E-3974BC54266E}" destId="{3854E219-3869-4FD9-B25D-73894E4FFE17}" srcOrd="0" destOrd="0" presId="urn:microsoft.com/office/officeart/2018/2/layout/IconCircleList"/>
    <dgm:cxn modelId="{620EBAC2-C1F2-42CE-A8D8-EAC194DF7FAC}" type="presOf" srcId="{7D625686-34A3-4063-8691-62D6BC907714}" destId="{EC335B98-A73E-4B3D-B874-CAF13A9CD5BA}" srcOrd="0" destOrd="0" presId="urn:microsoft.com/office/officeart/2018/2/layout/IconCircleList"/>
    <dgm:cxn modelId="{2FE605DD-51B4-4835-AA49-BA7C755C8A08}" type="presOf" srcId="{FCE4D47B-9939-4893-8F48-EB221F7AAEB4}" destId="{09E2DDFD-775D-45E5-A644-0854D9831ACF}" srcOrd="0" destOrd="0" presId="urn:microsoft.com/office/officeart/2018/2/layout/IconCircleList"/>
    <dgm:cxn modelId="{3326535D-5E8A-4CB6-9133-A0389EB386E2}" type="presParOf" srcId="{5F48FFAC-09B1-4488-A142-1B8F0F76704B}" destId="{7589E1F5-28B3-4283-BF70-0684D1EBE75D}" srcOrd="0" destOrd="0" presId="urn:microsoft.com/office/officeart/2018/2/layout/IconCircleList"/>
    <dgm:cxn modelId="{C5B835E0-D920-4DE8-BB12-58C610860F67}" type="presParOf" srcId="{7589E1F5-28B3-4283-BF70-0684D1EBE75D}" destId="{65980A05-9BF0-4126-952A-D02DE7179590}" srcOrd="0" destOrd="0" presId="urn:microsoft.com/office/officeart/2018/2/layout/IconCircleList"/>
    <dgm:cxn modelId="{622E9654-7C74-463B-AA11-F17942AA54AA}" type="presParOf" srcId="{65980A05-9BF0-4126-952A-D02DE7179590}" destId="{F64D376C-6BAA-49F5-9854-44404287298C}" srcOrd="0" destOrd="0" presId="urn:microsoft.com/office/officeart/2018/2/layout/IconCircleList"/>
    <dgm:cxn modelId="{D983E38E-173A-496A-B2BF-102A56670761}" type="presParOf" srcId="{65980A05-9BF0-4126-952A-D02DE7179590}" destId="{5C617F71-FB40-4DF3-B9B8-F2D1E3D9AD63}" srcOrd="1" destOrd="0" presId="urn:microsoft.com/office/officeart/2018/2/layout/IconCircleList"/>
    <dgm:cxn modelId="{8E208536-B352-4449-B9B4-23A07FEB280A}" type="presParOf" srcId="{65980A05-9BF0-4126-952A-D02DE7179590}" destId="{ACA31505-672D-469B-987A-758E3CDA957A}" srcOrd="2" destOrd="0" presId="urn:microsoft.com/office/officeart/2018/2/layout/IconCircleList"/>
    <dgm:cxn modelId="{A5883AF5-04CD-4BEE-B924-BFFFDAA139F2}" type="presParOf" srcId="{65980A05-9BF0-4126-952A-D02DE7179590}" destId="{DA0A64B3-EFB3-4A60-B30C-2456B68FF15D}" srcOrd="3" destOrd="0" presId="urn:microsoft.com/office/officeart/2018/2/layout/IconCircleList"/>
    <dgm:cxn modelId="{75F4A223-9255-4162-9631-7119FD38A86B}" type="presParOf" srcId="{7589E1F5-28B3-4283-BF70-0684D1EBE75D}" destId="{F0CA743D-57BA-4122-9AC6-CC813A69DBC5}" srcOrd="1" destOrd="0" presId="urn:microsoft.com/office/officeart/2018/2/layout/IconCircleList"/>
    <dgm:cxn modelId="{E143B927-5ADA-4DA6-9E85-663EDE574680}" type="presParOf" srcId="{7589E1F5-28B3-4283-BF70-0684D1EBE75D}" destId="{7855E873-00AF-435F-991E-765615C3A893}" srcOrd="2" destOrd="0" presId="urn:microsoft.com/office/officeart/2018/2/layout/IconCircleList"/>
    <dgm:cxn modelId="{C9EAD53B-17F8-465F-B466-D87EA8FF793C}" type="presParOf" srcId="{7855E873-00AF-435F-991E-765615C3A893}" destId="{9AC7465B-06D1-49B5-8A0C-CA886098ADD8}" srcOrd="0" destOrd="0" presId="urn:microsoft.com/office/officeart/2018/2/layout/IconCircleList"/>
    <dgm:cxn modelId="{BB387239-75F2-4C1A-BEBF-9DC9B68E0195}" type="presParOf" srcId="{7855E873-00AF-435F-991E-765615C3A893}" destId="{9D9F8938-7A30-41A5-AA37-BB5436DA4BF0}" srcOrd="1" destOrd="0" presId="urn:microsoft.com/office/officeart/2018/2/layout/IconCircleList"/>
    <dgm:cxn modelId="{0CBE344F-5329-47C9-991E-65BC045145AB}" type="presParOf" srcId="{7855E873-00AF-435F-991E-765615C3A893}" destId="{0289B1A7-A02B-4F80-9BD9-FDF1185A0040}" srcOrd="2" destOrd="0" presId="urn:microsoft.com/office/officeart/2018/2/layout/IconCircleList"/>
    <dgm:cxn modelId="{3BB96918-C414-4E18-BF73-C92DB20F54CF}" type="presParOf" srcId="{7855E873-00AF-435F-991E-765615C3A893}" destId="{09E2DDFD-775D-45E5-A644-0854D9831ACF}" srcOrd="3" destOrd="0" presId="urn:microsoft.com/office/officeart/2018/2/layout/IconCircleList"/>
    <dgm:cxn modelId="{CBD054F3-A5A1-4F26-8BA9-6C359B1C50C9}" type="presParOf" srcId="{7589E1F5-28B3-4283-BF70-0684D1EBE75D}" destId="{C499AF7A-8673-4741-ACF6-476A1FCF872D}" srcOrd="3" destOrd="0" presId="urn:microsoft.com/office/officeart/2018/2/layout/IconCircleList"/>
    <dgm:cxn modelId="{5234EDD8-7F73-4A4F-9A4B-895515A27614}" type="presParOf" srcId="{7589E1F5-28B3-4283-BF70-0684D1EBE75D}" destId="{ACF49D4D-5BF9-4608-9C5B-C78987149AB7}" srcOrd="4" destOrd="0" presId="urn:microsoft.com/office/officeart/2018/2/layout/IconCircleList"/>
    <dgm:cxn modelId="{D7265028-66F7-4A84-BEE9-496AAD625BEF}" type="presParOf" srcId="{ACF49D4D-5BF9-4608-9C5B-C78987149AB7}" destId="{209A2B57-59A0-4193-BD55-87BBEA7696E6}" srcOrd="0" destOrd="0" presId="urn:microsoft.com/office/officeart/2018/2/layout/IconCircleList"/>
    <dgm:cxn modelId="{EA17B207-84D6-49F8-AE6A-45E4A99BB9C3}" type="presParOf" srcId="{ACF49D4D-5BF9-4608-9C5B-C78987149AB7}" destId="{1BE59EE3-C52A-42FD-A03D-FD95E4CA04CB}" srcOrd="1" destOrd="0" presId="urn:microsoft.com/office/officeart/2018/2/layout/IconCircleList"/>
    <dgm:cxn modelId="{F6806558-ABA1-4DC4-A356-79F054CE13AD}" type="presParOf" srcId="{ACF49D4D-5BF9-4608-9C5B-C78987149AB7}" destId="{7F5FA7DF-C381-448A-8F66-5DD7D5454364}" srcOrd="2" destOrd="0" presId="urn:microsoft.com/office/officeart/2018/2/layout/IconCircleList"/>
    <dgm:cxn modelId="{608C9E2D-1205-4638-8760-D96374A794F5}" type="presParOf" srcId="{ACF49D4D-5BF9-4608-9C5B-C78987149AB7}" destId="{EC335B98-A73E-4B3D-B874-CAF13A9CD5BA}" srcOrd="3" destOrd="0" presId="urn:microsoft.com/office/officeart/2018/2/layout/IconCircleList"/>
    <dgm:cxn modelId="{81DE4E42-67BA-4AF5-9075-379081DE2003}" type="presParOf" srcId="{7589E1F5-28B3-4283-BF70-0684D1EBE75D}" destId="{3854E219-3869-4FD9-B25D-73894E4FFE17}" srcOrd="5" destOrd="0" presId="urn:microsoft.com/office/officeart/2018/2/layout/IconCircleList"/>
    <dgm:cxn modelId="{B586A4E0-7A14-4DA5-B2CD-327AA894F678}" type="presParOf" srcId="{7589E1F5-28B3-4283-BF70-0684D1EBE75D}" destId="{5FC71713-A66F-4966-B978-94153005DD34}" srcOrd="6" destOrd="0" presId="urn:microsoft.com/office/officeart/2018/2/layout/IconCircleList"/>
    <dgm:cxn modelId="{EEBF0837-D7DD-4935-BC80-A9D15DA55269}" type="presParOf" srcId="{5FC71713-A66F-4966-B978-94153005DD34}" destId="{11C0E118-6EE2-4729-9229-E48C818561C2}" srcOrd="0" destOrd="0" presId="urn:microsoft.com/office/officeart/2018/2/layout/IconCircleList"/>
    <dgm:cxn modelId="{A402FCA8-63DB-40FC-A6B3-F8C2E6E0B98D}" type="presParOf" srcId="{5FC71713-A66F-4966-B978-94153005DD34}" destId="{CC564802-C13E-43AD-AA11-A75B5136ACB3}" srcOrd="1" destOrd="0" presId="urn:microsoft.com/office/officeart/2018/2/layout/IconCircleList"/>
    <dgm:cxn modelId="{BC5CE1B9-D5C9-423E-981C-83C977B4CA69}" type="presParOf" srcId="{5FC71713-A66F-4966-B978-94153005DD34}" destId="{95092CCC-9FC0-4E88-A35B-7E04BDC79D6C}" srcOrd="2" destOrd="0" presId="urn:microsoft.com/office/officeart/2018/2/layout/IconCircleList"/>
    <dgm:cxn modelId="{D883080E-C1D1-48E5-8212-487E70365A49}" type="presParOf" srcId="{5FC71713-A66F-4966-B978-94153005DD34}" destId="{73FFFD84-1264-45EF-BD14-492BE8D4CF6A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F69858B-858A-499D-80E6-DE0A058FDACD}" type="doc">
      <dgm:prSet loTypeId="urn:microsoft.com/office/officeart/2008/layout/LinedList" loCatId="list" qsTypeId="urn:microsoft.com/office/officeart/2005/8/quickstyle/simple2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7E934D44-CB30-4FD1-93ED-00D2640AC808}">
      <dgm:prSet/>
      <dgm:spPr/>
      <dgm:t>
        <a:bodyPr/>
        <a:lstStyle/>
        <a:p>
          <a:r>
            <a:rPr lang="en-US" b="1" i="0" baseline="0" dirty="0"/>
            <a:t>Anomaly Rate:</a:t>
          </a:r>
          <a:r>
            <a:rPr lang="en-US" b="0" i="0" baseline="0" dirty="0"/>
            <a:t> Identified an overall </a:t>
          </a:r>
          <a:r>
            <a:rPr lang="en-US" b="1" i="0" baseline="0" dirty="0"/>
            <a:t>6.59% Out of Control rate</a:t>
          </a:r>
          <a:r>
            <a:rPr lang="en-US" b="0" i="0" baseline="0" dirty="0"/>
            <a:t> (516 </a:t>
          </a:r>
          <a:r>
            <a:rPr lang="en-US" b="0" i="0" baseline="0"/>
            <a:t>parts).</a:t>
          </a:r>
          <a:endParaRPr lang="en-US" dirty="0"/>
        </a:p>
      </dgm:t>
    </dgm:pt>
    <dgm:pt modelId="{0D748EC7-5350-4089-8118-B40081DE1125}" type="parTrans" cxnId="{B52A94BC-E378-46BA-8312-B26E6BED2508}">
      <dgm:prSet/>
      <dgm:spPr/>
      <dgm:t>
        <a:bodyPr/>
        <a:lstStyle/>
        <a:p>
          <a:endParaRPr lang="en-US"/>
        </a:p>
      </dgm:t>
    </dgm:pt>
    <dgm:pt modelId="{1ADE1B80-8A87-4D07-985C-17701A329654}" type="sibTrans" cxnId="{B52A94BC-E378-46BA-8312-B26E6BED2508}">
      <dgm:prSet/>
      <dgm:spPr/>
      <dgm:t>
        <a:bodyPr/>
        <a:lstStyle/>
        <a:p>
          <a:endParaRPr lang="en-US"/>
        </a:p>
      </dgm:t>
    </dgm:pt>
    <dgm:pt modelId="{CEF8361D-3E74-49D4-8BB7-FBAF00ADB4CC}" type="pres">
      <dgm:prSet presAssocID="{4F69858B-858A-499D-80E6-DE0A058FDACD}" presName="vert0" presStyleCnt="0">
        <dgm:presLayoutVars>
          <dgm:dir/>
          <dgm:animOne val="branch"/>
          <dgm:animLvl val="lvl"/>
        </dgm:presLayoutVars>
      </dgm:prSet>
      <dgm:spPr/>
    </dgm:pt>
    <dgm:pt modelId="{7B3A7BCC-3989-48BC-9617-5238B762D183}" type="pres">
      <dgm:prSet presAssocID="{7E934D44-CB30-4FD1-93ED-00D2640AC808}" presName="thickLine" presStyleLbl="alignNode1" presStyleIdx="0" presStyleCnt="1"/>
      <dgm:spPr/>
    </dgm:pt>
    <dgm:pt modelId="{4DEF092F-9240-4850-BE76-DA5F138AC7FB}" type="pres">
      <dgm:prSet presAssocID="{7E934D44-CB30-4FD1-93ED-00D2640AC808}" presName="horz1" presStyleCnt="0"/>
      <dgm:spPr/>
    </dgm:pt>
    <dgm:pt modelId="{18E9E9CA-5301-4C99-8FB3-D3ED209CF4D8}" type="pres">
      <dgm:prSet presAssocID="{7E934D44-CB30-4FD1-93ED-00D2640AC808}" presName="tx1" presStyleLbl="revTx" presStyleIdx="0" presStyleCnt="1"/>
      <dgm:spPr/>
    </dgm:pt>
    <dgm:pt modelId="{286EAA25-A522-4611-AF3A-67F4AD99BCF0}" type="pres">
      <dgm:prSet presAssocID="{7E934D44-CB30-4FD1-93ED-00D2640AC808}" presName="vert1" presStyleCnt="0"/>
      <dgm:spPr/>
    </dgm:pt>
  </dgm:ptLst>
  <dgm:cxnLst>
    <dgm:cxn modelId="{A6BD3BB5-D073-4CCF-B3A7-C577B66941FD}" type="presOf" srcId="{4F69858B-858A-499D-80E6-DE0A058FDACD}" destId="{CEF8361D-3E74-49D4-8BB7-FBAF00ADB4CC}" srcOrd="0" destOrd="0" presId="urn:microsoft.com/office/officeart/2008/layout/LinedList"/>
    <dgm:cxn modelId="{B52A94BC-E378-46BA-8312-B26E6BED2508}" srcId="{4F69858B-858A-499D-80E6-DE0A058FDACD}" destId="{7E934D44-CB30-4FD1-93ED-00D2640AC808}" srcOrd="0" destOrd="0" parTransId="{0D748EC7-5350-4089-8118-B40081DE1125}" sibTransId="{1ADE1B80-8A87-4D07-985C-17701A329654}"/>
    <dgm:cxn modelId="{EB7330C1-6109-4143-A064-DF139D2BB3DC}" type="presOf" srcId="{7E934D44-CB30-4FD1-93ED-00D2640AC808}" destId="{18E9E9CA-5301-4C99-8FB3-D3ED209CF4D8}" srcOrd="0" destOrd="0" presId="urn:microsoft.com/office/officeart/2008/layout/LinedList"/>
    <dgm:cxn modelId="{446D044A-7F57-4FE4-9B0B-7E1FD42B3AB5}" type="presParOf" srcId="{CEF8361D-3E74-49D4-8BB7-FBAF00ADB4CC}" destId="{7B3A7BCC-3989-48BC-9617-5238B762D183}" srcOrd="0" destOrd="0" presId="urn:microsoft.com/office/officeart/2008/layout/LinedList"/>
    <dgm:cxn modelId="{07F762C3-C3BD-400C-B1D3-D2941A78C99C}" type="presParOf" srcId="{CEF8361D-3E74-49D4-8BB7-FBAF00ADB4CC}" destId="{4DEF092F-9240-4850-BE76-DA5F138AC7FB}" srcOrd="1" destOrd="0" presId="urn:microsoft.com/office/officeart/2008/layout/LinedList"/>
    <dgm:cxn modelId="{C5EFAE37-B771-4382-B81A-41DC12D3E659}" type="presParOf" srcId="{4DEF092F-9240-4850-BE76-DA5F138AC7FB}" destId="{18E9E9CA-5301-4C99-8FB3-D3ED209CF4D8}" srcOrd="0" destOrd="0" presId="urn:microsoft.com/office/officeart/2008/layout/LinedList"/>
    <dgm:cxn modelId="{9DAEB1EE-65C5-4C9F-A8D2-ECE26E0B86D6}" type="presParOf" srcId="{4DEF092F-9240-4850-BE76-DA5F138AC7FB}" destId="{286EAA25-A522-4611-AF3A-67F4AD99BCF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7FDFE5B-B4EC-42DC-8E0A-E984AB779531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3F28C7E0-5D5D-4FFD-9754-964DC8693DED}">
      <dgm:prSet/>
      <dgm:spPr/>
      <dgm:t>
        <a:bodyPr/>
        <a:lstStyle/>
        <a:p>
          <a:r>
            <a:rPr lang="en-US" b="1" i="0" baseline="0"/>
            <a:t>New Machine Performance:</a:t>
          </a:r>
          <a:r>
            <a:rPr lang="en-US" b="0" i="0" baseline="0"/>
            <a:t> The machine is capable of high precision but is currently experiencing "infant mortality" style glitches (Q-spikes) and calibration instability T2 shifts.</a:t>
          </a:r>
          <a:endParaRPr lang="en-US"/>
        </a:p>
      </dgm:t>
    </dgm:pt>
    <dgm:pt modelId="{C4A3C27F-DE3E-48C2-80D9-504C698B899E}" type="parTrans" cxnId="{5B59A7F7-5E88-4A84-B56F-670C8EC60244}">
      <dgm:prSet/>
      <dgm:spPr/>
      <dgm:t>
        <a:bodyPr/>
        <a:lstStyle/>
        <a:p>
          <a:endParaRPr lang="en-US"/>
        </a:p>
      </dgm:t>
    </dgm:pt>
    <dgm:pt modelId="{033ED55A-5DF8-4E1B-88A9-A55D7759C16D}" type="sibTrans" cxnId="{5B59A7F7-5E88-4A84-B56F-670C8EC60244}">
      <dgm:prSet phldrT="01"/>
      <dgm:spPr/>
      <dgm:t>
        <a:bodyPr/>
        <a:lstStyle/>
        <a:p>
          <a:r>
            <a:rPr lang="en-US"/>
            <a:t>01</a:t>
          </a:r>
        </a:p>
      </dgm:t>
    </dgm:pt>
    <dgm:pt modelId="{741B8F97-8BDF-4AC4-823D-D9307E7BC6D6}">
      <dgm:prSet/>
      <dgm:spPr/>
      <dgm:t>
        <a:bodyPr/>
        <a:lstStyle/>
        <a:p>
          <a:r>
            <a:rPr lang="en-US" b="1" i="0" baseline="0"/>
            <a:t>Action Plan:</a:t>
          </a:r>
          <a:endParaRPr lang="en-US"/>
        </a:p>
      </dgm:t>
    </dgm:pt>
    <dgm:pt modelId="{A88B00A0-ADA7-4BB3-B52D-A42B86975EEE}" type="parTrans" cxnId="{9ED578A1-C6F9-4074-9A89-556BFE5C56AE}">
      <dgm:prSet/>
      <dgm:spPr/>
      <dgm:t>
        <a:bodyPr/>
        <a:lstStyle/>
        <a:p>
          <a:endParaRPr lang="en-US"/>
        </a:p>
      </dgm:t>
    </dgm:pt>
    <dgm:pt modelId="{F1ED02C6-620A-49C9-8BA5-EF405121A014}" type="sibTrans" cxnId="{9ED578A1-C6F9-4074-9A89-556BFE5C56AE}">
      <dgm:prSet phldrT="02"/>
      <dgm:spPr/>
      <dgm:t>
        <a:bodyPr/>
        <a:lstStyle/>
        <a:p>
          <a:r>
            <a:rPr lang="en-US"/>
            <a:t>02</a:t>
          </a:r>
        </a:p>
      </dgm:t>
    </dgm:pt>
    <dgm:pt modelId="{3AFD7695-91F5-4D81-A6D7-156B56E14398}">
      <dgm:prSet/>
      <dgm:spPr/>
      <dgm:t>
        <a:bodyPr/>
        <a:lstStyle/>
        <a:p>
          <a:r>
            <a:rPr lang="en-US" b="0" i="0" baseline="0" dirty="0"/>
            <a:t>Inspect sealing head alignment to reduce the PC1 drift.</a:t>
          </a:r>
          <a:endParaRPr lang="en-US" dirty="0"/>
        </a:p>
      </dgm:t>
    </dgm:pt>
    <dgm:pt modelId="{1E61013D-BC4A-49C8-831A-9B04701BCA2F}" type="parTrans" cxnId="{06F5385B-ACBC-4EF6-AC9E-3C0F2CC481AD}">
      <dgm:prSet/>
      <dgm:spPr/>
      <dgm:t>
        <a:bodyPr/>
        <a:lstStyle/>
        <a:p>
          <a:endParaRPr lang="en-US"/>
        </a:p>
      </dgm:t>
    </dgm:pt>
    <dgm:pt modelId="{55E19498-3384-4B16-80D6-7A80E7294487}" type="sibTrans" cxnId="{06F5385B-ACBC-4EF6-AC9E-3C0F2CC481AD}">
      <dgm:prSet/>
      <dgm:spPr/>
      <dgm:t>
        <a:bodyPr/>
        <a:lstStyle/>
        <a:p>
          <a:endParaRPr lang="en-US"/>
        </a:p>
      </dgm:t>
    </dgm:pt>
    <dgm:pt modelId="{95E1E37E-8CAE-4DBD-A95E-B19C4F0F777E}">
      <dgm:prSet/>
      <dgm:spPr/>
      <dgm:t>
        <a:bodyPr/>
        <a:lstStyle/>
        <a:p>
          <a:r>
            <a:rPr lang="en-US" b="0" i="0" baseline="0" dirty="0"/>
            <a:t>Set automated alerts on the dashboard for </a:t>
          </a:r>
          <a:r>
            <a:rPr lang="en-US" dirty="0"/>
            <a:t>T2</a:t>
          </a:r>
          <a:r>
            <a:rPr lang="en-US" b="0" i="0" baseline="0" dirty="0"/>
            <a:t> values exceeding 500 to catch batch errors early.</a:t>
          </a:r>
          <a:endParaRPr lang="en-US" dirty="0"/>
        </a:p>
      </dgm:t>
    </dgm:pt>
    <dgm:pt modelId="{F4C8F45B-C1E9-4A16-8D19-91E0ACF0898B}" type="parTrans" cxnId="{87906FA9-E9EB-45D8-B3FD-9F71997B70C9}">
      <dgm:prSet/>
      <dgm:spPr/>
      <dgm:t>
        <a:bodyPr/>
        <a:lstStyle/>
        <a:p>
          <a:endParaRPr lang="en-US"/>
        </a:p>
      </dgm:t>
    </dgm:pt>
    <dgm:pt modelId="{3F6FC4ED-B6CE-41C0-A381-ADAEE6586B9B}" type="sibTrans" cxnId="{87906FA9-E9EB-45D8-B3FD-9F71997B70C9}">
      <dgm:prSet/>
      <dgm:spPr/>
      <dgm:t>
        <a:bodyPr/>
        <a:lstStyle/>
        <a:p>
          <a:endParaRPr lang="en-US"/>
        </a:p>
      </dgm:t>
    </dgm:pt>
    <dgm:pt modelId="{99F12CAA-8D92-491E-B813-2C5AA9B0B490}">
      <dgm:prSet/>
      <dgm:spPr/>
      <dgm:t>
        <a:bodyPr/>
        <a:lstStyle/>
        <a:p>
          <a:r>
            <a:rPr lang="en-US" b="1" i="0" baseline="0"/>
            <a:t>Future Work:</a:t>
          </a:r>
          <a:r>
            <a:rPr lang="en-US" b="0" i="0" baseline="0"/>
            <a:t> Integrate the dashboard with the machine PLC for automated shutdown when Q-residuals spike.</a:t>
          </a:r>
          <a:endParaRPr lang="en-US"/>
        </a:p>
      </dgm:t>
    </dgm:pt>
    <dgm:pt modelId="{87E0874A-4C0C-41E1-A02E-2017864BE08A}" type="parTrans" cxnId="{45F5DEEA-04CD-4412-B9A1-AE29858F9927}">
      <dgm:prSet/>
      <dgm:spPr/>
      <dgm:t>
        <a:bodyPr/>
        <a:lstStyle/>
        <a:p>
          <a:endParaRPr lang="en-US"/>
        </a:p>
      </dgm:t>
    </dgm:pt>
    <dgm:pt modelId="{F54B9C3C-C125-47E4-BDE9-0D1ED36CD1B2}" type="sibTrans" cxnId="{45F5DEEA-04CD-4412-B9A1-AE29858F9927}">
      <dgm:prSet phldrT="03"/>
      <dgm:spPr/>
      <dgm:t>
        <a:bodyPr/>
        <a:lstStyle/>
        <a:p>
          <a:r>
            <a:rPr lang="en-US"/>
            <a:t>03</a:t>
          </a:r>
        </a:p>
      </dgm:t>
    </dgm:pt>
    <dgm:pt modelId="{F11538BD-44E8-491D-8F8B-1046B4FB13E8}" type="pres">
      <dgm:prSet presAssocID="{D7FDFE5B-B4EC-42DC-8E0A-E984AB779531}" presName="Name0" presStyleCnt="0">
        <dgm:presLayoutVars>
          <dgm:animLvl val="lvl"/>
          <dgm:resizeHandles val="exact"/>
        </dgm:presLayoutVars>
      </dgm:prSet>
      <dgm:spPr/>
    </dgm:pt>
    <dgm:pt modelId="{5211D51B-EE4D-406D-A1F7-35E993F3E88C}" type="pres">
      <dgm:prSet presAssocID="{3F28C7E0-5D5D-4FFD-9754-964DC8693DED}" presName="compositeNode" presStyleCnt="0">
        <dgm:presLayoutVars>
          <dgm:bulletEnabled val="1"/>
        </dgm:presLayoutVars>
      </dgm:prSet>
      <dgm:spPr/>
    </dgm:pt>
    <dgm:pt modelId="{C190218B-E77F-47AF-BD82-972649CBA64B}" type="pres">
      <dgm:prSet presAssocID="{3F28C7E0-5D5D-4FFD-9754-964DC8693DED}" presName="bgRect" presStyleLbl="alignNode1" presStyleIdx="0" presStyleCnt="3"/>
      <dgm:spPr/>
    </dgm:pt>
    <dgm:pt modelId="{19CE2BB9-6CF8-40C8-B698-9B354FFFD406}" type="pres">
      <dgm:prSet presAssocID="{033ED55A-5DF8-4E1B-88A9-A55D7759C16D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B7D82E80-B7D9-48A6-A078-18396F78D201}" type="pres">
      <dgm:prSet presAssocID="{3F28C7E0-5D5D-4FFD-9754-964DC8693DED}" presName="nodeRect" presStyleLbl="alignNode1" presStyleIdx="0" presStyleCnt="3">
        <dgm:presLayoutVars>
          <dgm:bulletEnabled val="1"/>
        </dgm:presLayoutVars>
      </dgm:prSet>
      <dgm:spPr/>
    </dgm:pt>
    <dgm:pt modelId="{9864EBDE-1759-47A5-BD5B-B7E3B2E0E96A}" type="pres">
      <dgm:prSet presAssocID="{033ED55A-5DF8-4E1B-88A9-A55D7759C16D}" presName="sibTrans" presStyleCnt="0"/>
      <dgm:spPr/>
    </dgm:pt>
    <dgm:pt modelId="{6813CED0-A22D-47F3-A1E9-5A1F29267276}" type="pres">
      <dgm:prSet presAssocID="{741B8F97-8BDF-4AC4-823D-D9307E7BC6D6}" presName="compositeNode" presStyleCnt="0">
        <dgm:presLayoutVars>
          <dgm:bulletEnabled val="1"/>
        </dgm:presLayoutVars>
      </dgm:prSet>
      <dgm:spPr/>
    </dgm:pt>
    <dgm:pt modelId="{5EF97395-C71C-4A53-8E3E-AEEE1925616C}" type="pres">
      <dgm:prSet presAssocID="{741B8F97-8BDF-4AC4-823D-D9307E7BC6D6}" presName="bgRect" presStyleLbl="alignNode1" presStyleIdx="1" presStyleCnt="3"/>
      <dgm:spPr/>
    </dgm:pt>
    <dgm:pt modelId="{7E570F25-2F14-4614-9D86-0E328A1BCDBE}" type="pres">
      <dgm:prSet presAssocID="{F1ED02C6-620A-49C9-8BA5-EF405121A014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1D1BE36B-9198-4360-874A-488615286F1A}" type="pres">
      <dgm:prSet presAssocID="{741B8F97-8BDF-4AC4-823D-D9307E7BC6D6}" presName="nodeRect" presStyleLbl="alignNode1" presStyleIdx="1" presStyleCnt="3">
        <dgm:presLayoutVars>
          <dgm:bulletEnabled val="1"/>
        </dgm:presLayoutVars>
      </dgm:prSet>
      <dgm:spPr/>
    </dgm:pt>
    <dgm:pt modelId="{C865F0B8-9793-4020-8111-3D41C76B1850}" type="pres">
      <dgm:prSet presAssocID="{F1ED02C6-620A-49C9-8BA5-EF405121A014}" presName="sibTrans" presStyleCnt="0"/>
      <dgm:spPr/>
    </dgm:pt>
    <dgm:pt modelId="{88C30368-81D1-497F-94D0-CD49EA8B12AC}" type="pres">
      <dgm:prSet presAssocID="{99F12CAA-8D92-491E-B813-2C5AA9B0B490}" presName="compositeNode" presStyleCnt="0">
        <dgm:presLayoutVars>
          <dgm:bulletEnabled val="1"/>
        </dgm:presLayoutVars>
      </dgm:prSet>
      <dgm:spPr/>
    </dgm:pt>
    <dgm:pt modelId="{C2233075-37AD-4F44-AEDE-3713835A1430}" type="pres">
      <dgm:prSet presAssocID="{99F12CAA-8D92-491E-B813-2C5AA9B0B490}" presName="bgRect" presStyleLbl="alignNode1" presStyleIdx="2" presStyleCnt="3"/>
      <dgm:spPr/>
    </dgm:pt>
    <dgm:pt modelId="{84604A9D-5E72-46B4-9BFE-EF6859701B54}" type="pres">
      <dgm:prSet presAssocID="{F54B9C3C-C125-47E4-BDE9-0D1ED36CD1B2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E0767E46-45B1-44AE-90A5-FF7B63303E14}" type="pres">
      <dgm:prSet presAssocID="{99F12CAA-8D92-491E-B813-2C5AA9B0B490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A38BFE27-35C9-4FB4-9249-7C5D55C04D68}" type="presOf" srcId="{741B8F97-8BDF-4AC4-823D-D9307E7BC6D6}" destId="{5EF97395-C71C-4A53-8E3E-AEEE1925616C}" srcOrd="0" destOrd="0" presId="urn:microsoft.com/office/officeart/2016/7/layout/LinearBlockProcessNumbered"/>
    <dgm:cxn modelId="{51EA263C-BB8B-4FFD-9573-403DEE55726C}" type="presOf" srcId="{741B8F97-8BDF-4AC4-823D-D9307E7BC6D6}" destId="{1D1BE36B-9198-4360-874A-488615286F1A}" srcOrd="1" destOrd="0" presId="urn:microsoft.com/office/officeart/2016/7/layout/LinearBlockProcessNumbered"/>
    <dgm:cxn modelId="{06F5385B-ACBC-4EF6-AC9E-3C0F2CC481AD}" srcId="{741B8F97-8BDF-4AC4-823D-D9307E7BC6D6}" destId="{3AFD7695-91F5-4D81-A6D7-156B56E14398}" srcOrd="0" destOrd="0" parTransId="{1E61013D-BC4A-49C8-831A-9B04701BCA2F}" sibTransId="{55E19498-3384-4B16-80D6-7A80E7294487}"/>
    <dgm:cxn modelId="{0D6D9369-72F8-4081-A65A-F2F902119BF2}" type="presOf" srcId="{F1ED02C6-620A-49C9-8BA5-EF405121A014}" destId="{7E570F25-2F14-4614-9D86-0E328A1BCDBE}" srcOrd="0" destOrd="0" presId="urn:microsoft.com/office/officeart/2016/7/layout/LinearBlockProcessNumbered"/>
    <dgm:cxn modelId="{C3470299-3500-428D-BEEE-4EF231F8E5D6}" type="presOf" srcId="{3F28C7E0-5D5D-4FFD-9754-964DC8693DED}" destId="{B7D82E80-B7D9-48A6-A078-18396F78D201}" srcOrd="1" destOrd="0" presId="urn:microsoft.com/office/officeart/2016/7/layout/LinearBlockProcessNumbered"/>
    <dgm:cxn modelId="{3520629C-92BE-4253-92CE-49437F7C118B}" type="presOf" srcId="{3AFD7695-91F5-4D81-A6D7-156B56E14398}" destId="{1D1BE36B-9198-4360-874A-488615286F1A}" srcOrd="0" destOrd="1" presId="urn:microsoft.com/office/officeart/2016/7/layout/LinearBlockProcessNumbered"/>
    <dgm:cxn modelId="{9ED578A1-C6F9-4074-9A89-556BFE5C56AE}" srcId="{D7FDFE5B-B4EC-42DC-8E0A-E984AB779531}" destId="{741B8F97-8BDF-4AC4-823D-D9307E7BC6D6}" srcOrd="1" destOrd="0" parTransId="{A88B00A0-ADA7-4BB3-B52D-A42B86975EEE}" sibTransId="{F1ED02C6-620A-49C9-8BA5-EF405121A014}"/>
    <dgm:cxn modelId="{FF4899A1-1589-4254-A676-6E7485BD9984}" type="presOf" srcId="{D7FDFE5B-B4EC-42DC-8E0A-E984AB779531}" destId="{F11538BD-44E8-491D-8F8B-1046B4FB13E8}" srcOrd="0" destOrd="0" presId="urn:microsoft.com/office/officeart/2016/7/layout/LinearBlockProcessNumbered"/>
    <dgm:cxn modelId="{87906FA9-E9EB-45D8-B3FD-9F71997B70C9}" srcId="{741B8F97-8BDF-4AC4-823D-D9307E7BC6D6}" destId="{95E1E37E-8CAE-4DBD-A95E-B19C4F0F777E}" srcOrd="1" destOrd="0" parTransId="{F4C8F45B-C1E9-4A16-8D19-91E0ACF0898B}" sibTransId="{3F6FC4ED-B6CE-41C0-A381-ADAEE6586B9B}"/>
    <dgm:cxn modelId="{367824AB-3EA4-4363-B8EC-42E2EB2EC55F}" type="presOf" srcId="{99F12CAA-8D92-491E-B813-2C5AA9B0B490}" destId="{E0767E46-45B1-44AE-90A5-FF7B63303E14}" srcOrd="1" destOrd="0" presId="urn:microsoft.com/office/officeart/2016/7/layout/LinearBlockProcessNumbered"/>
    <dgm:cxn modelId="{8A1874AF-EACE-4351-A500-E512E0AE7239}" type="presOf" srcId="{F54B9C3C-C125-47E4-BDE9-0D1ED36CD1B2}" destId="{84604A9D-5E72-46B4-9BFE-EF6859701B54}" srcOrd="0" destOrd="0" presId="urn:microsoft.com/office/officeart/2016/7/layout/LinearBlockProcessNumbered"/>
    <dgm:cxn modelId="{4C3BD1CB-7B7B-4E23-8F2A-E81677D53435}" type="presOf" srcId="{95E1E37E-8CAE-4DBD-A95E-B19C4F0F777E}" destId="{1D1BE36B-9198-4360-874A-488615286F1A}" srcOrd="0" destOrd="2" presId="urn:microsoft.com/office/officeart/2016/7/layout/LinearBlockProcessNumbered"/>
    <dgm:cxn modelId="{127651D0-0800-49C1-9F02-A90D0B21D37C}" type="presOf" srcId="{3F28C7E0-5D5D-4FFD-9754-964DC8693DED}" destId="{C190218B-E77F-47AF-BD82-972649CBA64B}" srcOrd="0" destOrd="0" presId="urn:microsoft.com/office/officeart/2016/7/layout/LinearBlockProcessNumbered"/>
    <dgm:cxn modelId="{65D4F9E2-EDA5-45F0-BB05-17DBE776AD9A}" type="presOf" srcId="{99F12CAA-8D92-491E-B813-2C5AA9B0B490}" destId="{C2233075-37AD-4F44-AEDE-3713835A1430}" srcOrd="0" destOrd="0" presId="urn:microsoft.com/office/officeart/2016/7/layout/LinearBlockProcessNumbered"/>
    <dgm:cxn modelId="{45F5DEEA-04CD-4412-B9A1-AE29858F9927}" srcId="{D7FDFE5B-B4EC-42DC-8E0A-E984AB779531}" destId="{99F12CAA-8D92-491E-B813-2C5AA9B0B490}" srcOrd="2" destOrd="0" parTransId="{87E0874A-4C0C-41E1-A02E-2017864BE08A}" sibTransId="{F54B9C3C-C125-47E4-BDE9-0D1ED36CD1B2}"/>
    <dgm:cxn modelId="{310657F0-CE46-45DD-A9D6-7B5AEEDF5C67}" type="presOf" srcId="{033ED55A-5DF8-4E1B-88A9-A55D7759C16D}" destId="{19CE2BB9-6CF8-40C8-B698-9B354FFFD406}" srcOrd="0" destOrd="0" presId="urn:microsoft.com/office/officeart/2016/7/layout/LinearBlockProcessNumbered"/>
    <dgm:cxn modelId="{5B59A7F7-5E88-4A84-B56F-670C8EC60244}" srcId="{D7FDFE5B-B4EC-42DC-8E0A-E984AB779531}" destId="{3F28C7E0-5D5D-4FFD-9754-964DC8693DED}" srcOrd="0" destOrd="0" parTransId="{C4A3C27F-DE3E-48C2-80D9-504C698B899E}" sibTransId="{033ED55A-5DF8-4E1B-88A9-A55D7759C16D}"/>
    <dgm:cxn modelId="{43EB141A-87C2-4D44-99A8-20BAB857A6BC}" type="presParOf" srcId="{F11538BD-44E8-491D-8F8B-1046B4FB13E8}" destId="{5211D51B-EE4D-406D-A1F7-35E993F3E88C}" srcOrd="0" destOrd="0" presId="urn:microsoft.com/office/officeart/2016/7/layout/LinearBlockProcessNumbered"/>
    <dgm:cxn modelId="{6F36B0E0-862F-4D64-A2A3-01B5BCC4679A}" type="presParOf" srcId="{5211D51B-EE4D-406D-A1F7-35E993F3E88C}" destId="{C190218B-E77F-47AF-BD82-972649CBA64B}" srcOrd="0" destOrd="0" presId="urn:microsoft.com/office/officeart/2016/7/layout/LinearBlockProcessNumbered"/>
    <dgm:cxn modelId="{A13A7530-697A-4ACD-85C7-E5F3E2D7DA84}" type="presParOf" srcId="{5211D51B-EE4D-406D-A1F7-35E993F3E88C}" destId="{19CE2BB9-6CF8-40C8-B698-9B354FFFD406}" srcOrd="1" destOrd="0" presId="urn:microsoft.com/office/officeart/2016/7/layout/LinearBlockProcessNumbered"/>
    <dgm:cxn modelId="{1E498460-50FE-49F4-A9A2-927C28272FB1}" type="presParOf" srcId="{5211D51B-EE4D-406D-A1F7-35E993F3E88C}" destId="{B7D82E80-B7D9-48A6-A078-18396F78D201}" srcOrd="2" destOrd="0" presId="urn:microsoft.com/office/officeart/2016/7/layout/LinearBlockProcessNumbered"/>
    <dgm:cxn modelId="{A1DBA744-A869-4C2E-B120-CE79648B2328}" type="presParOf" srcId="{F11538BD-44E8-491D-8F8B-1046B4FB13E8}" destId="{9864EBDE-1759-47A5-BD5B-B7E3B2E0E96A}" srcOrd="1" destOrd="0" presId="urn:microsoft.com/office/officeart/2016/7/layout/LinearBlockProcessNumbered"/>
    <dgm:cxn modelId="{4B175EC9-6FF3-4457-8DDC-ED4EA59D1E8B}" type="presParOf" srcId="{F11538BD-44E8-491D-8F8B-1046B4FB13E8}" destId="{6813CED0-A22D-47F3-A1E9-5A1F29267276}" srcOrd="2" destOrd="0" presId="urn:microsoft.com/office/officeart/2016/7/layout/LinearBlockProcessNumbered"/>
    <dgm:cxn modelId="{36ED6D75-61B6-4046-A859-36ADCC44A96A}" type="presParOf" srcId="{6813CED0-A22D-47F3-A1E9-5A1F29267276}" destId="{5EF97395-C71C-4A53-8E3E-AEEE1925616C}" srcOrd="0" destOrd="0" presId="urn:microsoft.com/office/officeart/2016/7/layout/LinearBlockProcessNumbered"/>
    <dgm:cxn modelId="{7FB53754-295C-4647-B54D-EF3EDB05B0BF}" type="presParOf" srcId="{6813CED0-A22D-47F3-A1E9-5A1F29267276}" destId="{7E570F25-2F14-4614-9D86-0E328A1BCDBE}" srcOrd="1" destOrd="0" presId="urn:microsoft.com/office/officeart/2016/7/layout/LinearBlockProcessNumbered"/>
    <dgm:cxn modelId="{9F52DE17-338B-40C6-BF74-3F80472A060F}" type="presParOf" srcId="{6813CED0-A22D-47F3-A1E9-5A1F29267276}" destId="{1D1BE36B-9198-4360-874A-488615286F1A}" srcOrd="2" destOrd="0" presId="urn:microsoft.com/office/officeart/2016/7/layout/LinearBlockProcessNumbered"/>
    <dgm:cxn modelId="{851D56DA-4FAC-47D5-8ED5-2AB9E3784C24}" type="presParOf" srcId="{F11538BD-44E8-491D-8F8B-1046B4FB13E8}" destId="{C865F0B8-9793-4020-8111-3D41C76B1850}" srcOrd="3" destOrd="0" presId="urn:microsoft.com/office/officeart/2016/7/layout/LinearBlockProcessNumbered"/>
    <dgm:cxn modelId="{6E3AE8B4-C98A-4057-901E-006B88FA836C}" type="presParOf" srcId="{F11538BD-44E8-491D-8F8B-1046B4FB13E8}" destId="{88C30368-81D1-497F-94D0-CD49EA8B12AC}" srcOrd="4" destOrd="0" presId="urn:microsoft.com/office/officeart/2016/7/layout/LinearBlockProcessNumbered"/>
    <dgm:cxn modelId="{44B8CAD4-7278-4471-B59A-248D1BC37171}" type="presParOf" srcId="{88C30368-81D1-497F-94D0-CD49EA8B12AC}" destId="{C2233075-37AD-4F44-AEDE-3713835A1430}" srcOrd="0" destOrd="0" presId="urn:microsoft.com/office/officeart/2016/7/layout/LinearBlockProcessNumbered"/>
    <dgm:cxn modelId="{77D251F2-5B85-4570-8898-B5B78FCE574A}" type="presParOf" srcId="{88C30368-81D1-497F-94D0-CD49EA8B12AC}" destId="{84604A9D-5E72-46B4-9BFE-EF6859701B54}" srcOrd="1" destOrd="0" presId="urn:microsoft.com/office/officeart/2016/7/layout/LinearBlockProcessNumbered"/>
    <dgm:cxn modelId="{140FD283-57C3-4102-8A1C-3077CB568AF3}" type="presParOf" srcId="{88C30368-81D1-497F-94D0-CD49EA8B12AC}" destId="{E0767E46-45B1-44AE-90A5-FF7B63303E14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4D376C-6BAA-49F5-9854-44404287298C}">
      <dsp:nvSpPr>
        <dsp:cNvPr id="0" name=""/>
        <dsp:cNvSpPr/>
      </dsp:nvSpPr>
      <dsp:spPr>
        <a:xfrm>
          <a:off x="282221" y="368029"/>
          <a:ext cx="1371985" cy="137198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617F71-FB40-4DF3-B9B8-F2D1E3D9AD63}">
      <dsp:nvSpPr>
        <dsp:cNvPr id="0" name=""/>
        <dsp:cNvSpPr/>
      </dsp:nvSpPr>
      <dsp:spPr>
        <a:xfrm>
          <a:off x="570337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0A64B3-EFB3-4A60-B30C-2456B68FF15D}">
      <dsp:nvSpPr>
        <dsp:cNvPr id="0" name=""/>
        <dsp:cNvSpPr/>
      </dsp:nvSpPr>
      <dsp:spPr>
        <a:xfrm>
          <a:off x="1948202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Dimensionality Reduction:</a:t>
          </a:r>
          <a:r>
            <a:rPr lang="en-US" sz="1800" b="0" i="0" kern="1200" baseline="0"/>
            <a:t> Captured </a:t>
          </a:r>
          <a:r>
            <a:rPr lang="en-US" sz="1800" b="1" i="0" kern="1200" baseline="0"/>
            <a:t>82% of process variance</a:t>
          </a:r>
          <a:r>
            <a:rPr lang="en-US" sz="1800" b="0" i="0" kern="1200" baseline="0"/>
            <a:t> using only the first two components (PC1 and PC2).</a:t>
          </a:r>
          <a:endParaRPr lang="en-US" sz="1800" kern="1200"/>
        </a:p>
      </dsp:txBody>
      <dsp:txXfrm>
        <a:off x="1948202" y="368029"/>
        <a:ext cx="3233964" cy="1371985"/>
      </dsp:txXfrm>
    </dsp:sp>
    <dsp:sp modelId="{9AC7465B-06D1-49B5-8A0C-CA886098ADD8}">
      <dsp:nvSpPr>
        <dsp:cNvPr id="0" name=""/>
        <dsp:cNvSpPr/>
      </dsp:nvSpPr>
      <dsp:spPr>
        <a:xfrm>
          <a:off x="5745661" y="368029"/>
          <a:ext cx="1371985" cy="137198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9F8938-7A30-41A5-AA37-BB5436DA4BF0}">
      <dsp:nvSpPr>
        <dsp:cNvPr id="0" name=""/>
        <dsp:cNvSpPr/>
      </dsp:nvSpPr>
      <dsp:spPr>
        <a:xfrm>
          <a:off x="6033778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E2DDFD-775D-45E5-A644-0854D9831ACF}">
      <dsp:nvSpPr>
        <dsp:cNvPr id="0" name=""/>
        <dsp:cNvSpPr/>
      </dsp:nvSpPr>
      <dsp:spPr>
        <a:xfrm>
          <a:off x="7411643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PC1 (Sealing Integrity):</a:t>
          </a:r>
          <a:r>
            <a:rPr lang="en-US" sz="1800" b="0" i="0" kern="1200" baseline="0"/>
            <a:t> Strongly influenced by total collapse, weld force, and weld time.</a:t>
          </a:r>
          <a:endParaRPr lang="en-US" sz="1800" kern="1200"/>
        </a:p>
      </dsp:txBody>
      <dsp:txXfrm>
        <a:off x="7411643" y="368029"/>
        <a:ext cx="3233964" cy="1371985"/>
      </dsp:txXfrm>
    </dsp:sp>
    <dsp:sp modelId="{209A2B57-59A0-4193-BD55-87BBEA7696E6}">
      <dsp:nvSpPr>
        <dsp:cNvPr id="0" name=""/>
        <dsp:cNvSpPr/>
      </dsp:nvSpPr>
      <dsp:spPr>
        <a:xfrm>
          <a:off x="282221" y="2452790"/>
          <a:ext cx="1371985" cy="137198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E59EE3-C52A-42FD-A03D-FD95E4CA04CB}">
      <dsp:nvSpPr>
        <dsp:cNvPr id="0" name=""/>
        <dsp:cNvSpPr/>
      </dsp:nvSpPr>
      <dsp:spPr>
        <a:xfrm>
          <a:off x="570337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335B98-A73E-4B3D-B874-CAF13A9CD5BA}">
      <dsp:nvSpPr>
        <dsp:cNvPr id="0" name=""/>
        <dsp:cNvSpPr/>
      </dsp:nvSpPr>
      <dsp:spPr>
        <a:xfrm>
          <a:off x="1948202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PC2 (Filling Precision):</a:t>
          </a:r>
          <a:r>
            <a:rPr lang="en-US" sz="1800" b="0" i="0" kern="1200" baseline="0"/>
            <a:t> Primarily driven by tare weight and gross weight.</a:t>
          </a:r>
          <a:endParaRPr lang="en-US" sz="1800" kern="1200"/>
        </a:p>
      </dsp:txBody>
      <dsp:txXfrm>
        <a:off x="1948202" y="2452790"/>
        <a:ext cx="3233964" cy="1371985"/>
      </dsp:txXfrm>
    </dsp:sp>
    <dsp:sp modelId="{11C0E118-6EE2-4729-9229-E48C818561C2}">
      <dsp:nvSpPr>
        <dsp:cNvPr id="0" name=""/>
        <dsp:cNvSpPr/>
      </dsp:nvSpPr>
      <dsp:spPr>
        <a:xfrm>
          <a:off x="5745661" y="2452790"/>
          <a:ext cx="1371985" cy="137198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564802-C13E-43AD-AA11-A75B5136ACB3}">
      <dsp:nvSpPr>
        <dsp:cNvPr id="0" name=""/>
        <dsp:cNvSpPr/>
      </dsp:nvSpPr>
      <dsp:spPr>
        <a:xfrm>
          <a:off x="6033778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FFFD84-1264-45EF-BD14-492BE8D4CF6A}">
      <dsp:nvSpPr>
        <dsp:cNvPr id="0" name=""/>
        <dsp:cNvSpPr/>
      </dsp:nvSpPr>
      <dsp:spPr>
        <a:xfrm>
          <a:off x="7411643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altLang="en-US" sz="1800" b="1" i="0" u="none" strike="noStrike" kern="1200" cap="none" normalizeH="0" baseline="0" dirty="0">
              <a:effectLst/>
              <a:latin typeface="Google Sans Text"/>
            </a:rPr>
            <a:t>Hotelling’s </a:t>
          </a:r>
          <a:r>
            <a:rPr lang="en-US" altLang="en-US" sz="1800" b="1" kern="1200" dirty="0">
              <a:latin typeface="Google Sans Text"/>
            </a:rPr>
            <a:t>T2</a:t>
          </a:r>
          <a:r>
            <a:rPr kumimoji="0" lang="en-US" altLang="en-US" sz="1800" b="1" i="0" u="none" strike="noStrike" kern="1200" cap="none" normalizeH="0" baseline="0" dirty="0">
              <a:effectLst/>
              <a:latin typeface="Google Sans Text"/>
            </a:rPr>
            <a:t> (exceeding 3000)</a:t>
          </a:r>
          <a:r>
            <a:rPr kumimoji="0" lang="en-US" altLang="en-US" sz="1800" b="0" i="0" u="none" strike="noStrike" kern="1200" cap="none" normalizeH="0" baseline="0" dirty="0">
              <a:effectLst/>
            </a:rPr>
            <a:t> signals a systematic shift </a:t>
          </a:r>
        </a:p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 dirty="0"/>
            <a:t>Q-residuals (reaching &gt;200)</a:t>
          </a:r>
          <a:r>
            <a:rPr lang="en-GB" sz="1800" kern="1200" dirty="0"/>
            <a:t> indicates a mechanical glitch.</a:t>
          </a:r>
        </a:p>
      </dsp:txBody>
      <dsp:txXfrm>
        <a:off x="7411643" y="2452790"/>
        <a:ext cx="3233964" cy="137198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3A7BCC-3989-48BC-9617-5238B762D183}">
      <dsp:nvSpPr>
        <dsp:cNvPr id="0" name=""/>
        <dsp:cNvSpPr/>
      </dsp:nvSpPr>
      <dsp:spPr>
        <a:xfrm>
          <a:off x="0" y="0"/>
          <a:ext cx="5120393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8E9E9CA-5301-4C99-8FB3-D3ED209CF4D8}">
      <dsp:nvSpPr>
        <dsp:cNvPr id="0" name=""/>
        <dsp:cNvSpPr/>
      </dsp:nvSpPr>
      <dsp:spPr>
        <a:xfrm>
          <a:off x="0" y="0"/>
          <a:ext cx="5120393" cy="40180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4310" tIns="194310" rIns="194310" bIns="194310" numCol="1" spcCol="1270" anchor="t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b="1" i="0" kern="1200" baseline="0" dirty="0"/>
            <a:t>Anomaly Rate:</a:t>
          </a:r>
          <a:r>
            <a:rPr lang="en-US" sz="5100" b="0" i="0" kern="1200" baseline="0" dirty="0"/>
            <a:t> Identified an overall </a:t>
          </a:r>
          <a:r>
            <a:rPr lang="en-US" sz="5100" b="1" i="0" kern="1200" baseline="0" dirty="0"/>
            <a:t>6.59% Out of Control rate</a:t>
          </a:r>
          <a:r>
            <a:rPr lang="en-US" sz="5100" b="0" i="0" kern="1200" baseline="0" dirty="0"/>
            <a:t> (516 </a:t>
          </a:r>
          <a:r>
            <a:rPr lang="en-US" sz="5100" b="0" i="0" kern="1200" baseline="0"/>
            <a:t>parts).</a:t>
          </a:r>
          <a:endParaRPr lang="en-US" sz="5100" kern="1200" dirty="0"/>
        </a:p>
      </dsp:txBody>
      <dsp:txXfrm>
        <a:off x="0" y="0"/>
        <a:ext cx="5120393" cy="401806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90218B-E77F-47AF-BD82-972649CBA64B}">
      <dsp:nvSpPr>
        <dsp:cNvPr id="0" name=""/>
        <dsp:cNvSpPr/>
      </dsp:nvSpPr>
      <dsp:spPr>
        <a:xfrm>
          <a:off x="821" y="179348"/>
          <a:ext cx="3327201" cy="399264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8654" tIns="0" rIns="328654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New Machine Performance:</a:t>
          </a:r>
          <a:r>
            <a:rPr lang="en-US" sz="1800" b="0" i="0" kern="1200" baseline="0"/>
            <a:t> The machine is capable of high precision but is currently experiencing "infant mortality" style glitches (Q-spikes) and calibration instability T2 shifts.</a:t>
          </a:r>
          <a:endParaRPr lang="en-US" sz="1800" kern="1200"/>
        </a:p>
      </dsp:txBody>
      <dsp:txXfrm>
        <a:off x="821" y="1776404"/>
        <a:ext cx="3327201" cy="2395585"/>
      </dsp:txXfrm>
    </dsp:sp>
    <dsp:sp modelId="{19CE2BB9-6CF8-40C8-B698-9B354FFFD406}">
      <dsp:nvSpPr>
        <dsp:cNvPr id="0" name=""/>
        <dsp:cNvSpPr/>
      </dsp:nvSpPr>
      <dsp:spPr>
        <a:xfrm>
          <a:off x="821" y="179348"/>
          <a:ext cx="3327201" cy="1597056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8654" tIns="165100" rIns="32865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</a:p>
      </dsp:txBody>
      <dsp:txXfrm>
        <a:off x="821" y="179348"/>
        <a:ext cx="3327201" cy="1597056"/>
      </dsp:txXfrm>
    </dsp:sp>
    <dsp:sp modelId="{5EF97395-C71C-4A53-8E3E-AEEE1925616C}">
      <dsp:nvSpPr>
        <dsp:cNvPr id="0" name=""/>
        <dsp:cNvSpPr/>
      </dsp:nvSpPr>
      <dsp:spPr>
        <a:xfrm>
          <a:off x="3594199" y="179348"/>
          <a:ext cx="3327201" cy="3992641"/>
        </a:xfrm>
        <a:prstGeom prst="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8654" tIns="0" rIns="328654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Action Plan:</a:t>
          </a:r>
          <a:endParaRPr lang="en-US" sz="18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i="0" kern="1200" baseline="0" dirty="0"/>
            <a:t>Inspect sealing head alignment to reduce the PC1 drift.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i="0" kern="1200" baseline="0" dirty="0"/>
            <a:t>Set automated alerts on the dashboard for </a:t>
          </a:r>
          <a:r>
            <a:rPr lang="en-US" sz="1400" kern="1200" dirty="0"/>
            <a:t>T2</a:t>
          </a:r>
          <a:r>
            <a:rPr lang="en-US" sz="1400" b="0" i="0" kern="1200" baseline="0" dirty="0"/>
            <a:t> values exceeding 500 to catch batch errors early.</a:t>
          </a:r>
          <a:endParaRPr lang="en-US" sz="1400" kern="1200" dirty="0"/>
        </a:p>
      </dsp:txBody>
      <dsp:txXfrm>
        <a:off x="3594199" y="1776404"/>
        <a:ext cx="3327201" cy="2395585"/>
      </dsp:txXfrm>
    </dsp:sp>
    <dsp:sp modelId="{7E570F25-2F14-4614-9D86-0E328A1BCDBE}">
      <dsp:nvSpPr>
        <dsp:cNvPr id="0" name=""/>
        <dsp:cNvSpPr/>
      </dsp:nvSpPr>
      <dsp:spPr>
        <a:xfrm>
          <a:off x="3594199" y="179348"/>
          <a:ext cx="3327201" cy="1597056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8654" tIns="165100" rIns="32865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3594199" y="179348"/>
        <a:ext cx="3327201" cy="1597056"/>
      </dsp:txXfrm>
    </dsp:sp>
    <dsp:sp modelId="{C2233075-37AD-4F44-AEDE-3713835A1430}">
      <dsp:nvSpPr>
        <dsp:cNvPr id="0" name=""/>
        <dsp:cNvSpPr/>
      </dsp:nvSpPr>
      <dsp:spPr>
        <a:xfrm>
          <a:off x="7187576" y="179348"/>
          <a:ext cx="3327201" cy="3992641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8654" tIns="0" rIns="328654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Future Work:</a:t>
          </a:r>
          <a:r>
            <a:rPr lang="en-US" sz="1800" b="0" i="0" kern="1200" baseline="0"/>
            <a:t> Integrate the dashboard with the machine PLC for automated shutdown when Q-residuals spike.</a:t>
          </a:r>
          <a:endParaRPr lang="en-US" sz="1800" kern="1200"/>
        </a:p>
      </dsp:txBody>
      <dsp:txXfrm>
        <a:off x="7187576" y="1776404"/>
        <a:ext cx="3327201" cy="2395585"/>
      </dsp:txXfrm>
    </dsp:sp>
    <dsp:sp modelId="{84604A9D-5E72-46B4-9BFE-EF6859701B54}">
      <dsp:nvSpPr>
        <dsp:cNvPr id="0" name=""/>
        <dsp:cNvSpPr/>
      </dsp:nvSpPr>
      <dsp:spPr>
        <a:xfrm>
          <a:off x="7187576" y="179348"/>
          <a:ext cx="3327201" cy="1597056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8654" tIns="165100" rIns="32865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</a:p>
      </dsp:txBody>
      <dsp:txXfrm>
        <a:off x="7187576" y="179348"/>
        <a:ext cx="3327201" cy="15970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D46CDB-AE86-496D-A5D2-F520F8BFE422}" type="datetimeFigureOut">
              <a:rPr lang="en-GB" smtClean="0"/>
              <a:t>12/01/2026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44434E-4DAB-4ED7-8FCD-BD15C6527D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5664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44434E-4DAB-4ED7-8FCD-BD15C6527DCB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9500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44434E-4DAB-4ED7-8FCD-BD15C6527DCB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86264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44434E-4DAB-4ED7-8FCD-BD15C6527DCB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4453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F2121-DDA7-6C51-F089-7C1AC9BA17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82EEA1-4FAF-CAD1-4937-5EC063BD4A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BF81B1-AB54-7713-FEBE-E16DA696A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1E499-A930-4665-AA1A-600D7F1FE1CA}" type="datetimeFigureOut">
              <a:rPr lang="en-GB" smtClean="0"/>
              <a:t>12/01/2026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40DB99-62F0-AB55-D2B8-C79ADACA9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613C12-8776-EC20-3C03-E80FA5742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E40F6-B812-4BC7-BC9F-5A54703ABD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7782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1CC40-F7BA-A138-D4A1-7ED65DE9B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DC11A-93A2-F0DA-9BDA-BFAD59E36F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D3195D-F216-84F6-489B-367B8BD2F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1E499-A930-4665-AA1A-600D7F1FE1CA}" type="datetimeFigureOut">
              <a:rPr lang="en-GB" smtClean="0"/>
              <a:t>12/01/2026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20C2A1-00AB-B1D0-DE8F-10CD7A0C1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B1E3AF-4294-7B33-B8CA-2C92228D2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E40F6-B812-4BC7-BC9F-5A54703ABD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316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1D737-9585-F987-189D-CB1E57D42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1071B9-8E62-8CD7-47D2-6779E46310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575A26-15FE-E915-7395-7B0267475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1E499-A930-4665-AA1A-600D7F1FE1CA}" type="datetimeFigureOut">
              <a:rPr lang="en-GB" smtClean="0"/>
              <a:t>12/01/2026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F15441-85C5-8420-4E16-185E658A1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049A76-7AC8-C55A-E868-24EB0F540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E40F6-B812-4BC7-BC9F-5A54703ABD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5580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56186-3D1A-BEC1-E166-57A8F78D7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70B4F-E2C1-107D-8132-577C87801C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B927A6-338E-CA24-2875-0F09084308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6D498B-4A31-FDB5-DD63-EBA72F6E6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1E499-A930-4665-AA1A-600D7F1FE1CA}" type="datetimeFigureOut">
              <a:rPr lang="en-GB" smtClean="0"/>
              <a:t>12/01/2026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C2278B-4EA3-55B8-502C-5967AC1AF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F0A08B-4B26-C402-B5C7-92D21782E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E40F6-B812-4BC7-BC9F-5A54703ABD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3290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3F0BA-8B82-387E-0E8B-7AE516C73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291BF1-FCAC-5061-FDD8-4774ED49FF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1EBE7D-0BE0-2A92-2462-2B61A26338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40CF63-0E16-B347-FEA3-09FFE309AE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7CA39B-09CB-3EF2-5C02-A83A24FEA6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2367DB-C379-2B55-D72D-9DA9E14D0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1E499-A930-4665-AA1A-600D7F1FE1CA}" type="datetimeFigureOut">
              <a:rPr lang="en-GB" smtClean="0"/>
              <a:t>12/01/2026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CC84ED-EFD8-D64F-21C5-603CE3624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81B4C0-59CC-37A6-D391-63DA0B3AD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E40F6-B812-4BC7-BC9F-5A54703ABD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4090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F605B-7E21-6136-BA5D-FED67BB76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F51F-FFAF-6A97-0A6A-77F52EDC9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1E499-A930-4665-AA1A-600D7F1FE1CA}" type="datetimeFigureOut">
              <a:rPr lang="en-GB" smtClean="0"/>
              <a:t>12/01/2026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3B1B89-BA9E-D9E4-F9EC-B4BD5A598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7F58D9-C112-7E4F-C2EC-780C9B924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E40F6-B812-4BC7-BC9F-5A54703ABD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2333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DEAC76-0844-022E-3223-E6EDB779C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1E499-A930-4665-AA1A-600D7F1FE1CA}" type="datetimeFigureOut">
              <a:rPr lang="en-GB" smtClean="0"/>
              <a:t>12/01/2026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6409E4-D10A-F889-2BF0-9069F44A6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82A1F2-8A1F-CE4A-278E-0BB9B678E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E40F6-B812-4BC7-BC9F-5A54703ABD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7341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CD10A-0898-4219-DDCC-A2D5FB27D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F93A2-6224-80BA-DA9D-B248D8859F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E97B7E-CF70-D327-A93E-5FCE2DF3EA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F55F2B-63D5-C58E-19B8-638C8C0CB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1E499-A930-4665-AA1A-600D7F1FE1CA}" type="datetimeFigureOut">
              <a:rPr lang="en-GB" smtClean="0"/>
              <a:t>12/01/2026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023C02-ACA7-CAC1-2A18-E3963D76E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E5EFA9-5E4B-DEBF-E253-55B46716D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E40F6-B812-4BC7-BC9F-5A54703ABD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1482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7075A-8031-438F-4189-9C3503359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85BA58-A19D-857F-3BDB-F8B36B64FB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7224EB-D9D2-1EDA-245A-5B7765CCD3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6A2AC7-B3FA-104D-3080-B1AA5F2E5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1E499-A930-4665-AA1A-600D7F1FE1CA}" type="datetimeFigureOut">
              <a:rPr lang="en-GB" smtClean="0"/>
              <a:t>12/01/2026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676DC5-D9AC-3447-41F5-D5FFC27E1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DD454E-5B51-A7BE-8446-3CFB3DF2E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E40F6-B812-4BC7-BC9F-5A54703ABD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9310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5FBE0-99F8-096B-2294-F9CC23393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8C0D4B-99AD-300C-3232-0011738B5F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20E28-380E-F633-0F08-F3201C7EF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1E499-A930-4665-AA1A-600D7F1FE1CA}" type="datetimeFigureOut">
              <a:rPr lang="en-GB" smtClean="0"/>
              <a:t>12/01/2026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B47BE3-F4F6-7A77-D8DE-C855FC0F5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B743D-4A18-927C-D04B-5664C4166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E40F6-B812-4BC7-BC9F-5A54703ABD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7471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9950CF-8CFE-C6FD-C169-52606CD0DC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77DFC4-3F6A-A4A4-DBE8-285CC64F37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57865-2B40-3CC2-83E5-A261809D9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1E499-A930-4665-AA1A-600D7F1FE1CA}" type="datetimeFigureOut">
              <a:rPr lang="en-GB" smtClean="0"/>
              <a:t>12/01/2026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1CD1FF-5DC8-DC95-726D-DA6812495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660C9B-16AC-F63A-1619-E67FC973E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E40F6-B812-4BC7-BC9F-5A54703ABD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2085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343A81-F4F7-6026-2370-15D96100D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52944E-0F60-6815-1B6E-5AC52B4E08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0BF52E-4BA8-F4CB-483A-5E1686144A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D1E499-A930-4665-AA1A-600D7F1FE1CA}" type="datetimeFigureOut">
              <a:rPr lang="en-GB" smtClean="0"/>
              <a:t>12/01/2026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E96C32-F07A-EC17-47B3-EBFC9F3DE0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084786-BF9B-5C36-8690-A54507BAAE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6E40F6-B812-4BC7-BC9F-5A54703ABD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6604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8" name="Rectangle 6157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9" name="Picture 5" descr="6+ Thousand Vial Filling Line Royalty-Free Images, Stock Photos &amp; Pictures  | Shutterstock">
            <a:extLst>
              <a:ext uri="{FF2B5EF4-FFF2-40B4-BE49-F238E27FC236}">
                <a16:creationId xmlns:a16="http://schemas.microsoft.com/office/drawing/2014/main" id="{B6EB7BB7-8082-B45B-B321-464B9EC61A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69" b="1"/>
          <a:stretch>
            <a:fillRect/>
          </a:stretch>
        </p:blipFill>
        <p:spPr bwMode="auto">
          <a:xfrm>
            <a:off x="20" y="10"/>
            <a:ext cx="1218893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7AB9182-F4C5-E3AE-DE0F-53582F87EA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63240"/>
          </a:xfrm>
        </p:spPr>
        <p:txBody>
          <a:bodyPr>
            <a:normAutofit/>
          </a:bodyPr>
          <a:lstStyle/>
          <a:p>
            <a:r>
              <a:rPr lang="en-GB" sz="6600">
                <a:solidFill>
                  <a:schemeClr val="bg1"/>
                </a:solidFill>
              </a:rPr>
              <a:t>Manufacturing Analytics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7B79D9-6D90-5B5A-7DC6-277C39E202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4599432"/>
            <a:ext cx="9144000" cy="1536192"/>
          </a:xfrm>
        </p:spPr>
        <p:txBody>
          <a:bodyPr>
            <a:normAutofit/>
          </a:bodyPr>
          <a:lstStyle/>
          <a:p>
            <a:r>
              <a:rPr lang="en-GB" b="1">
                <a:solidFill>
                  <a:schemeClr val="bg1"/>
                </a:solidFill>
              </a:rPr>
              <a:t>PCA‑Based Manufacturing Analytics Dashboard for an Automated Filling Line</a:t>
            </a:r>
          </a:p>
        </p:txBody>
      </p:sp>
      <p:sp>
        <p:nvSpPr>
          <p:cNvPr id="6159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8730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72E71E-6E88-BF06-2BE3-BB4E17B8E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GB" sz="4000"/>
              <a:t>Scope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70F9AC5-00E2-4007-74DD-FA156D645FB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1802" y="2743200"/>
            <a:ext cx="4646905" cy="361314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Problem: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Monitoring a high-speed automated filling line for a new machine where traditional univariate limits might miss complex mechanical failures.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9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Objective: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Implement Principal Component Analysis (PCA) to detect multi-variable anomalies in real-time.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9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Analysis</a:t>
            </a:r>
            <a:r>
              <a:rPr lang="en-US" altLang="en-US" sz="1900" dirty="0">
                <a:latin typeface="Arial" panose="020B0604020202020204" pitchFamily="34" charset="0"/>
              </a:rPr>
              <a:t> : 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7,828 total parts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produced between December 17 and December 18, 2025.</a:t>
            </a:r>
          </a:p>
        </p:txBody>
      </p:sp>
      <p:pic>
        <p:nvPicPr>
          <p:cNvPr id="6" name="Picture 5" descr="Digital financial graph">
            <a:extLst>
              <a:ext uri="{FF2B5EF4-FFF2-40B4-BE49-F238E27FC236}">
                <a16:creationId xmlns:a16="http://schemas.microsoft.com/office/drawing/2014/main" id="{B2391B44-A2BF-D430-5EE9-20F21A1085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724" r="20221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778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8597FC-89FC-2DE3-45FD-9DC535D96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Data Preprocessing and Feature Engineering</a:t>
            </a:r>
          </a:p>
        </p:txBody>
      </p:sp>
      <p:graphicFrame>
        <p:nvGraphicFramePr>
          <p:cNvPr id="8" name="Rectangle 1">
            <a:extLst>
              <a:ext uri="{FF2B5EF4-FFF2-40B4-BE49-F238E27FC236}">
                <a16:creationId xmlns:a16="http://schemas.microsoft.com/office/drawing/2014/main" id="{9E3E612A-4755-A6E3-B382-F091E6DAEF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90026649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2110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Slide Background">
            <a:extLst>
              <a:ext uri="{FF2B5EF4-FFF2-40B4-BE49-F238E27FC236}">
                <a16:creationId xmlns:a16="http://schemas.microsoft.com/office/drawing/2014/main" id="{FE1EC756-41E9-4FD6-AD48-EF46A2813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66F6371-9EA5-9354-29DC-1D07B921F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4290"/>
            <a:ext cx="12192000" cy="1733407"/>
          </a:xfrm>
          <a:prstGeom prst="rect">
            <a:avLst/>
          </a:prstGeom>
          <a:ln>
            <a:noFill/>
          </a:ln>
          <a:effectLst>
            <a:outerShdw blurRad="254000" dist="38100" dir="5460000" sx="94000" sy="94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DB480A-9ED9-B16D-E8ED-DFB22B1F7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5" y="307447"/>
            <a:ext cx="10693884" cy="1109932"/>
          </a:xfrm>
        </p:spPr>
        <p:txBody>
          <a:bodyPr>
            <a:normAutofit/>
          </a:bodyPr>
          <a:lstStyle/>
          <a:p>
            <a:r>
              <a:rPr lang="en-GB" sz="4000"/>
              <a:t>Findings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08891D-9D59-D4E9-AD36-E8F7600AFA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037" y="1996112"/>
            <a:ext cx="5804955" cy="3642688"/>
          </a:xfrm>
          <a:prstGeom prst="rect">
            <a:avLst/>
          </a:prstGeom>
        </p:spPr>
      </p:pic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8CF84953-4E63-2F17-4F0A-67A68AD035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7630355"/>
              </p:ext>
            </p:extLst>
          </p:nvPr>
        </p:nvGraphicFramePr>
        <p:xfrm>
          <a:off x="6335486" y="2242458"/>
          <a:ext cx="5120393" cy="40180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81479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F22324-BBED-55BC-589A-4810DEB4B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57200"/>
            <a:ext cx="4343400" cy="192938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/>
              <a:t>PCA Loadings</a:t>
            </a:r>
          </a:p>
        </p:txBody>
      </p:sp>
      <p:sp>
        <p:nvSpPr>
          <p:cNvPr id="32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471415" y="1412748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F6D080-B79D-2B0B-02FC-0F7FEA2D8457}"/>
              </a:ext>
            </a:extLst>
          </p:cNvPr>
          <p:cNvSpPr txBox="1"/>
          <p:nvPr/>
        </p:nvSpPr>
        <p:spPr>
          <a:xfrm>
            <a:off x="5617463" y="500743"/>
            <a:ext cx="6007608" cy="1929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i="0" baseline="0" dirty="0"/>
              <a:t>The "Normal" Baseline:</a:t>
            </a:r>
            <a:r>
              <a:rPr lang="en-US" sz="1700" b="0" i="0" baseline="0" dirty="0"/>
              <a:t> The scores plot shows two distinct clusters of healthy operation, suggesting either two filling heads or two stable batch runs.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/>
              <a:t>The Failure Signature:</a:t>
            </a:r>
            <a:r>
              <a:rPr lang="en-US" sz="1700" dirty="0"/>
              <a:t> High-risk anomalies (Cluster 1) show a specific drift toward negative PC1, indicating that </a:t>
            </a:r>
            <a:r>
              <a:rPr lang="en-US" sz="1700" b="1" dirty="0"/>
              <a:t>sealing mechanicals</a:t>
            </a:r>
            <a:r>
              <a:rPr lang="en-US" sz="1700" dirty="0"/>
              <a:t> are the primary source of failure rather than fill-weights.</a:t>
            </a:r>
          </a:p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EB59CED-8458-5287-77B6-028BF19F43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66343" y="2318657"/>
            <a:ext cx="9646486" cy="4125686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F45FF7F8-4D04-164D-5026-3C8D20B671FF}"/>
              </a:ext>
            </a:extLst>
          </p:cNvPr>
          <p:cNvGrpSpPr/>
          <p:nvPr/>
        </p:nvGrpSpPr>
        <p:grpSpPr>
          <a:xfrm>
            <a:off x="6254497" y="3593618"/>
            <a:ext cx="5468111" cy="1630628"/>
            <a:chOff x="-2578873" y="1456140"/>
            <a:chExt cx="8591106" cy="256192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195E9B4-A071-C7D3-8CB6-D6504BABC72E}"/>
                </a:ext>
              </a:extLst>
            </p:cNvPr>
            <p:cNvSpPr/>
            <p:nvPr/>
          </p:nvSpPr>
          <p:spPr>
            <a:xfrm>
              <a:off x="0" y="2009033"/>
              <a:ext cx="5120393" cy="2009033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D5ED74C-47E5-E3A6-5F65-EB940ACD4574}"/>
                </a:ext>
              </a:extLst>
            </p:cNvPr>
            <p:cNvSpPr txBox="1"/>
            <p:nvPr/>
          </p:nvSpPr>
          <p:spPr>
            <a:xfrm>
              <a:off x="-2578873" y="1456140"/>
              <a:ext cx="8591106" cy="200903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3820" tIns="83820" rIns="83820" bIns="83820" numCol="1" spcCol="1270" anchor="t" anchorCtr="0">
              <a:noAutofit/>
            </a:bodyPr>
            <a:lstStyle/>
            <a:p>
              <a:pPr defTabSz="623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2200" kern="1200"/>
            </a:p>
          </p:txBody>
        </p:sp>
      </p:grpSp>
    </p:spTree>
    <p:extLst>
      <p:ext uri="{BB962C8B-B14F-4D97-AF65-F5344CB8AC3E}">
        <p14:creationId xmlns:p14="http://schemas.microsoft.com/office/powerpoint/2010/main" val="28236703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7BAD10-D796-933C-B62A-885A264F2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GB" sz="2400" b="1" dirty="0"/>
              <a:t>Real-Time Event Analysis (December 18)</a:t>
            </a:r>
            <a:br>
              <a:rPr lang="en-GB" sz="2600" b="1" dirty="0"/>
            </a:br>
            <a:endParaRPr lang="en-GB" sz="2600" dirty="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AA78E-2B4F-66A9-1F8D-088B9F7CEC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GB" sz="2200" b="1" dirty="0"/>
              <a:t>01:15 : Mechanical Glitch:</a:t>
            </a:r>
            <a:r>
              <a:rPr lang="en-GB" sz="2200" dirty="0"/>
              <a:t> A massive spike in </a:t>
            </a:r>
            <a:r>
              <a:rPr lang="en-GB" sz="2200" b="1" dirty="0"/>
              <a:t>Q-residuals (reaching &gt;200)</a:t>
            </a:r>
            <a:r>
              <a:rPr lang="en-GB" sz="2200" dirty="0"/>
              <a:t> indicates a "model-breaking" event, likely a momentary mechanical jam or sensor interference.</a:t>
            </a:r>
          </a:p>
          <a:p>
            <a:endParaRPr lang="en-GB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1F4EE1-7DB7-F7C3-CF00-D77C791C9B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3927" y="1212534"/>
            <a:ext cx="7448261" cy="4622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698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37F7AA-1CAF-A6DF-BD0A-093707528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GB" sz="2400" b="1" dirty="0"/>
              <a:t>Real-Time Event Analysis (December 18)</a:t>
            </a:r>
            <a:br>
              <a:rPr lang="en-GB" sz="2600" b="1" dirty="0"/>
            </a:br>
            <a:endParaRPr lang="en-GB" sz="2600" dirty="0"/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0C5593B-637F-AA4F-AF40-8F25626B4E1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30936" y="2807208"/>
            <a:ext cx="3429000" cy="341071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03:00 </a:t>
            </a:r>
            <a:r>
              <a:rPr lang="en-US" altLang="en-US" sz="2200" b="1" dirty="0">
                <a:latin typeface="Google Sans Text"/>
              </a:rPr>
              <a:t>: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Process Shift: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</a:rPr>
              <a:t> A sustained jump in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Hotelling’s </a:t>
            </a:r>
            <a:r>
              <a:rPr lang="en-US" altLang="en-US" sz="2200" b="1" dirty="0">
                <a:latin typeface="Google Sans Text"/>
              </a:rPr>
              <a:t>T2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(exceeding 3000)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</a:rPr>
              <a:t> signals a systematic shift in the process mean, typical of an incorrect set-point change or calibration drift.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F4D524F-DB19-9882-1ECB-538D1AE4DB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7714" y="642257"/>
            <a:ext cx="7859486" cy="5584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6395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close-up of a blue and green wave&#10;&#10;AI-generated content may be incorrect.">
            <a:extLst>
              <a:ext uri="{FF2B5EF4-FFF2-40B4-BE49-F238E27FC236}">
                <a16:creationId xmlns:a16="http://schemas.microsoft.com/office/drawing/2014/main" id="{41682196-8115-68FF-819F-BDF08B53454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41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E2181C-9439-EE92-5ED1-FC6906D71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/>
              <a:t>Conclusions and recommendations</a:t>
            </a:r>
          </a:p>
        </p:txBody>
      </p:sp>
      <p:graphicFrame>
        <p:nvGraphicFramePr>
          <p:cNvPr id="13" name="Rectangle 1">
            <a:extLst>
              <a:ext uri="{FF2B5EF4-FFF2-40B4-BE49-F238E27FC236}">
                <a16:creationId xmlns:a16="http://schemas.microsoft.com/office/drawing/2014/main" id="{314AFEAE-58BF-3513-826E-97067E3B2D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797529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207467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394</Words>
  <Application>Microsoft Office PowerPoint</Application>
  <PresentationFormat>Widescreen</PresentationFormat>
  <Paragraphs>35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Google Sans Text</vt:lpstr>
      <vt:lpstr>Office Theme</vt:lpstr>
      <vt:lpstr>Manufacturing Analytics</vt:lpstr>
      <vt:lpstr>Scope</vt:lpstr>
      <vt:lpstr>Data Preprocessing and Feature Engineering</vt:lpstr>
      <vt:lpstr>Findings</vt:lpstr>
      <vt:lpstr>PCA Loadings</vt:lpstr>
      <vt:lpstr>Real-Time Event Analysis (December 18) </vt:lpstr>
      <vt:lpstr>Real-Time Event Analysis (December 18) </vt:lpstr>
      <vt:lpstr>Conclusions and 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Ruvimbo Chiweshe</dc:creator>
  <cp:lastModifiedBy>Ruvimbo Chiweshe</cp:lastModifiedBy>
  <cp:revision>1</cp:revision>
  <dcterms:created xsi:type="dcterms:W3CDTF">2026-01-12T23:17:08Z</dcterms:created>
  <dcterms:modified xsi:type="dcterms:W3CDTF">2026-01-12T23:56:50Z</dcterms:modified>
</cp:coreProperties>
</file>